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39B838-6812-475C-A67A-C6024F5D426C}" v="5" dt="2026-03-11T18:53:10.66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830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gili Sainath" userId="ff67ee334e1063d2" providerId="LiveId" clId="{3C1772B4-7CAD-43AC-B077-281D56420F61}"/>
    <pc:docChg chg="undo custSel addSld modSld">
      <pc:chgData name="Mogili Sainath" userId="ff67ee334e1063d2" providerId="LiveId" clId="{3C1772B4-7CAD-43AC-B077-281D56420F61}" dt="2026-03-11T18:53:57.954" v="90" actId="1076"/>
      <pc:docMkLst>
        <pc:docMk/>
      </pc:docMkLst>
      <pc:sldChg chg="addSp modSp mod">
        <pc:chgData name="Mogili Sainath" userId="ff67ee334e1063d2" providerId="LiveId" clId="{3C1772B4-7CAD-43AC-B077-281D56420F61}" dt="2026-03-11T18:50:24.508" v="69" actId="1076"/>
        <pc:sldMkLst>
          <pc:docMk/>
          <pc:sldMk cId="0" sldId="256"/>
        </pc:sldMkLst>
        <pc:spChg chg="add mod">
          <ac:chgData name="Mogili Sainath" userId="ff67ee334e1063d2" providerId="LiveId" clId="{3C1772B4-7CAD-43AC-B077-281D56420F61}" dt="2026-03-11T18:50:24.508" v="69" actId="1076"/>
          <ac:spMkLst>
            <pc:docMk/>
            <pc:sldMk cId="0" sldId="256"/>
            <ac:spMk id="5" creationId="{55F89D0C-AF12-B1A3-9140-C2A264625133}"/>
          </ac:spMkLst>
        </pc:spChg>
      </pc:sldChg>
      <pc:sldChg chg="addSp modSp new mod">
        <pc:chgData name="Mogili Sainath" userId="ff67ee334e1063d2" providerId="LiveId" clId="{3C1772B4-7CAD-43AC-B077-281D56420F61}" dt="2026-03-11T18:53:57.954" v="90" actId="1076"/>
        <pc:sldMkLst>
          <pc:docMk/>
          <pc:sldMk cId="175845144" sldId="266"/>
        </pc:sldMkLst>
        <pc:spChg chg="add mod">
          <ac:chgData name="Mogili Sainath" userId="ff67ee334e1063d2" providerId="LiveId" clId="{3C1772B4-7CAD-43AC-B077-281D56420F61}" dt="2026-03-11T18:53:57.954" v="90" actId="1076"/>
          <ac:spMkLst>
            <pc:docMk/>
            <pc:sldMk cId="175845144" sldId="266"/>
            <ac:spMk id="2" creationId="{AE7F86CA-6BBA-75E0-814C-FAB2E3177A9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rgbClr val="484237"/>
                </a:solidFill>
                <a:latin typeface="Georgia Pro SemiBold"/>
                <a:cs typeface="Georgia Pro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rgbClr val="746558"/>
                </a:solidFill>
                <a:latin typeface="Yrsa"/>
                <a:cs typeface="Yrs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rgbClr val="484237"/>
                </a:solidFill>
                <a:latin typeface="Georgia Pro SemiBold"/>
                <a:cs typeface="Georgia Pro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rgbClr val="746558"/>
                </a:solidFill>
                <a:latin typeface="Yrsa"/>
                <a:cs typeface="Yrs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rgbClr val="484237"/>
                </a:solidFill>
                <a:latin typeface="Georgia Pro SemiBold"/>
                <a:cs typeface="Georgia Pro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rgbClr val="484237"/>
                </a:solidFill>
                <a:latin typeface="Georgia Pro SemiBold"/>
                <a:cs typeface="Georgia Pro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F9F6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1684" y="695521"/>
            <a:ext cx="13217725" cy="140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rgbClr val="484237"/>
                </a:solidFill>
                <a:latin typeface="Georgia Pro SemiBold"/>
                <a:cs typeface="Georgia Pro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7459" y="3307020"/>
            <a:ext cx="8247380" cy="2544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rgbClr val="746558"/>
                </a:solidFill>
                <a:latin typeface="Yrsa"/>
                <a:cs typeface="Yrs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450" cy="822968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271640" y="2834639"/>
            <a:ext cx="7223125" cy="1406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5560"/>
              </a:lnSpc>
            </a:pPr>
            <a:r>
              <a:rPr sz="4400" dirty="0"/>
              <a:t>Cognitive</a:t>
            </a:r>
            <a:r>
              <a:rPr sz="4400" spc="5" dirty="0"/>
              <a:t> </a:t>
            </a:r>
            <a:r>
              <a:rPr sz="4400" dirty="0"/>
              <a:t>Silicon:</a:t>
            </a:r>
            <a:r>
              <a:rPr sz="4400" spc="5" dirty="0"/>
              <a:t> </a:t>
            </a:r>
            <a:r>
              <a:rPr sz="4400" spc="-25" dirty="0"/>
              <a:t>The </a:t>
            </a:r>
            <a:r>
              <a:rPr sz="4400" dirty="0"/>
              <a:t>Future</a:t>
            </a:r>
            <a:r>
              <a:rPr sz="4400" spc="5" dirty="0"/>
              <a:t> </a:t>
            </a:r>
            <a:r>
              <a:rPr sz="4400" dirty="0"/>
              <a:t>of</a:t>
            </a:r>
            <a:r>
              <a:rPr sz="4400" spc="5" dirty="0"/>
              <a:t> </a:t>
            </a:r>
            <a:r>
              <a:rPr sz="4400" dirty="0"/>
              <a:t>Brain-Like</a:t>
            </a:r>
            <a:r>
              <a:rPr sz="4400" spc="5" dirty="0"/>
              <a:t> </a:t>
            </a:r>
            <a:r>
              <a:rPr sz="4400" spc="-10" dirty="0"/>
              <a:t>Chips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6271640" y="4561746"/>
            <a:ext cx="7030084" cy="768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3400"/>
              </a:lnSpc>
              <a:spcBef>
                <a:spcPts val="95"/>
              </a:spcBef>
            </a:pP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A</a:t>
            </a:r>
            <a:r>
              <a:rPr sz="1700" spc="-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university</a:t>
            </a:r>
            <a:r>
              <a:rPr sz="1700" spc="1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seminar</a:t>
            </a:r>
            <a:r>
              <a:rPr sz="1700" spc="2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exploring</a:t>
            </a:r>
            <a:r>
              <a:rPr sz="170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the</a:t>
            </a:r>
            <a:r>
              <a:rPr sz="170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next</a:t>
            </a:r>
            <a:r>
              <a:rPr sz="170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generation</a:t>
            </a:r>
            <a:r>
              <a:rPr sz="170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of</a:t>
            </a:r>
            <a:r>
              <a:rPr sz="170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computing</a:t>
            </a:r>
            <a:r>
              <a:rPr sz="170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technology</a:t>
            </a:r>
            <a:r>
              <a:rPr sz="1700" spc="1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20" dirty="0">
                <a:solidFill>
                  <a:srgbClr val="746558"/>
                </a:solidFill>
                <a:latin typeface="Yrsa"/>
                <a:cs typeface="Yrsa"/>
              </a:rPr>
              <a:t>that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mimics</a:t>
            </a:r>
            <a:r>
              <a:rPr sz="1700" spc="3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how our</a:t>
            </a:r>
            <a:r>
              <a:rPr sz="1700" spc="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brains</a:t>
            </a:r>
            <a:r>
              <a:rPr sz="1700" spc="3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20" dirty="0">
                <a:solidFill>
                  <a:srgbClr val="746558"/>
                </a:solidFill>
                <a:latin typeface="Yrsa"/>
                <a:cs typeface="Yrsa"/>
              </a:rPr>
              <a:t>work</a:t>
            </a:r>
            <a:endParaRPr sz="1700">
              <a:latin typeface="Yrsa"/>
              <a:cs typeface="Yrs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F89D0C-AF12-B1A3-9140-C2A264625133}"/>
              </a:ext>
            </a:extLst>
          </p:cNvPr>
          <p:cNvSpPr txBox="1"/>
          <p:nvPr/>
        </p:nvSpPr>
        <p:spPr>
          <a:xfrm>
            <a:off x="10668000" y="6400800"/>
            <a:ext cx="4267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/>
              <a:t>NAME : M.SAINATH </a:t>
            </a:r>
            <a:br>
              <a:rPr lang="en-IN" b="1" i="1" dirty="0"/>
            </a:br>
            <a:r>
              <a:rPr lang="en-IN" b="1" i="1" dirty="0"/>
              <a:t>ROLLNO : 227Y1A66A2</a:t>
            </a:r>
          </a:p>
          <a:p>
            <a:r>
              <a:rPr lang="en-IN" b="1" i="1" dirty="0"/>
              <a:t>GUIDE : MR.K.SRIKANTH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7539" y="548640"/>
            <a:ext cx="6680200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200" dirty="0"/>
              <a:t>What</a:t>
            </a:r>
            <a:r>
              <a:rPr sz="4200" spc="-15" dirty="0"/>
              <a:t> </a:t>
            </a:r>
            <a:r>
              <a:rPr sz="4200" dirty="0"/>
              <a:t>is</a:t>
            </a:r>
            <a:r>
              <a:rPr sz="4200" spc="-10" dirty="0"/>
              <a:t> </a:t>
            </a:r>
            <a:r>
              <a:rPr sz="4200" dirty="0"/>
              <a:t>Cognitive</a:t>
            </a:r>
            <a:r>
              <a:rPr sz="4200" spc="-10" dirty="0"/>
              <a:t> Silicon?</a:t>
            </a:r>
            <a:endParaRPr sz="42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>
              <a:lnSpc>
                <a:spcPct val="132800"/>
              </a:lnSpc>
              <a:spcBef>
                <a:spcPts val="95"/>
              </a:spcBef>
            </a:pPr>
            <a:r>
              <a:rPr dirty="0"/>
              <a:t>Cognitive</a:t>
            </a:r>
            <a:r>
              <a:rPr spc="-20" dirty="0"/>
              <a:t> </a:t>
            </a:r>
            <a:r>
              <a:rPr dirty="0"/>
              <a:t>Silicon</a:t>
            </a:r>
            <a:r>
              <a:rPr spc="-15" dirty="0"/>
              <a:t> </a:t>
            </a:r>
            <a:r>
              <a:rPr dirty="0"/>
              <a:t>refers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spc="-20" dirty="0">
                <a:solidFill>
                  <a:srgbClr val="D3C5B6"/>
                </a:solidFill>
              </a:rPr>
              <a:t>brain-</a:t>
            </a:r>
            <a:r>
              <a:rPr dirty="0">
                <a:solidFill>
                  <a:srgbClr val="D3C5B6"/>
                </a:solidFill>
              </a:rPr>
              <a:t>inspired</a:t>
            </a:r>
            <a:r>
              <a:rPr spc="-20" dirty="0">
                <a:solidFill>
                  <a:srgbClr val="D3C5B6"/>
                </a:solidFill>
              </a:rPr>
              <a:t> </a:t>
            </a:r>
            <a:r>
              <a:rPr dirty="0">
                <a:solidFill>
                  <a:srgbClr val="D3C5B6"/>
                </a:solidFill>
              </a:rPr>
              <a:t>computer</a:t>
            </a:r>
            <a:r>
              <a:rPr spc="-40" dirty="0">
                <a:solidFill>
                  <a:srgbClr val="D3C5B6"/>
                </a:solidFill>
              </a:rPr>
              <a:t> </a:t>
            </a:r>
            <a:r>
              <a:rPr dirty="0">
                <a:solidFill>
                  <a:srgbClr val="D3C5B6"/>
                </a:solidFill>
              </a:rPr>
              <a:t>chips</a:t>
            </a:r>
            <a:r>
              <a:rPr spc="-20" dirty="0">
                <a:solidFill>
                  <a:srgbClr val="D3C5B6"/>
                </a:solidFill>
              </a:rPr>
              <a:t> </a:t>
            </a:r>
            <a:r>
              <a:rPr dirty="0"/>
              <a:t>that</a:t>
            </a:r>
            <a:r>
              <a:rPr spc="-15" dirty="0"/>
              <a:t> </a:t>
            </a:r>
            <a:r>
              <a:rPr dirty="0"/>
              <a:t>work</a:t>
            </a:r>
            <a:r>
              <a:rPr spc="-20" dirty="0"/>
              <a:t> </a:t>
            </a:r>
            <a:r>
              <a:rPr dirty="0"/>
              <a:t>more</a:t>
            </a:r>
            <a:r>
              <a:rPr spc="-15" dirty="0"/>
              <a:t> </a:t>
            </a:r>
            <a:r>
              <a:rPr dirty="0"/>
              <a:t>like</a:t>
            </a:r>
            <a:r>
              <a:rPr spc="-2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human</a:t>
            </a:r>
            <a:r>
              <a:rPr spc="-20" dirty="0"/>
              <a:t> </a:t>
            </a:r>
            <a:r>
              <a:rPr dirty="0"/>
              <a:t>brain</a:t>
            </a:r>
            <a:r>
              <a:rPr spc="-15" dirty="0"/>
              <a:t> </a:t>
            </a:r>
            <a:r>
              <a:rPr spc="-20" dirty="0"/>
              <a:t>than </a:t>
            </a:r>
            <a:r>
              <a:rPr dirty="0"/>
              <a:t>traditional</a:t>
            </a:r>
            <a:r>
              <a:rPr spc="-35" dirty="0"/>
              <a:t> </a:t>
            </a:r>
            <a:r>
              <a:rPr dirty="0"/>
              <a:t>processors.</a:t>
            </a:r>
            <a:r>
              <a:rPr spc="-30" dirty="0"/>
              <a:t> </a:t>
            </a:r>
            <a:r>
              <a:rPr dirty="0"/>
              <a:t>These</a:t>
            </a:r>
            <a:r>
              <a:rPr spc="-30" dirty="0"/>
              <a:t> </a:t>
            </a:r>
            <a:r>
              <a:rPr dirty="0"/>
              <a:t>chips</a:t>
            </a:r>
            <a:r>
              <a:rPr spc="-30" dirty="0"/>
              <a:t> </a:t>
            </a:r>
            <a:r>
              <a:rPr dirty="0"/>
              <a:t>use</a:t>
            </a:r>
            <a:r>
              <a:rPr spc="-30" dirty="0"/>
              <a:t> </a:t>
            </a:r>
            <a:r>
              <a:rPr dirty="0"/>
              <a:t>artificial</a:t>
            </a:r>
            <a:r>
              <a:rPr spc="-35" dirty="0"/>
              <a:t> </a:t>
            </a:r>
            <a:r>
              <a:rPr dirty="0"/>
              <a:t>neurons</a:t>
            </a:r>
            <a:r>
              <a:rPr spc="-3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neural</a:t>
            </a:r>
            <a:r>
              <a:rPr spc="-30" dirty="0"/>
              <a:t> </a:t>
            </a:r>
            <a:r>
              <a:rPr dirty="0"/>
              <a:t>networks</a:t>
            </a:r>
            <a:r>
              <a:rPr spc="-3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spc="-10" dirty="0"/>
              <a:t>process </a:t>
            </a:r>
            <a:r>
              <a:rPr dirty="0"/>
              <a:t>information</a:t>
            </a:r>
            <a:r>
              <a:rPr spc="-15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way</a:t>
            </a:r>
            <a:r>
              <a:rPr spc="-45" dirty="0"/>
              <a:t> </a:t>
            </a:r>
            <a:r>
              <a:rPr dirty="0"/>
              <a:t>that</a:t>
            </a:r>
            <a:r>
              <a:rPr spc="-15" dirty="0"/>
              <a:t> </a:t>
            </a:r>
            <a:r>
              <a:rPr dirty="0"/>
              <a:t>resembles</a:t>
            </a:r>
            <a:r>
              <a:rPr spc="-10" dirty="0"/>
              <a:t> </a:t>
            </a:r>
            <a:r>
              <a:rPr dirty="0"/>
              <a:t>how</a:t>
            </a:r>
            <a:r>
              <a:rPr spc="-45" dirty="0"/>
              <a:t> </a:t>
            </a:r>
            <a:r>
              <a:rPr dirty="0"/>
              <a:t>our</a:t>
            </a:r>
            <a:r>
              <a:rPr spc="-35" dirty="0"/>
              <a:t> </a:t>
            </a:r>
            <a:r>
              <a:rPr dirty="0"/>
              <a:t>brains</a:t>
            </a:r>
            <a:r>
              <a:rPr spc="-15" dirty="0"/>
              <a:t> </a:t>
            </a:r>
            <a:r>
              <a:rPr dirty="0"/>
              <a:t>think</a:t>
            </a:r>
            <a:r>
              <a:rPr spc="-1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-10" dirty="0"/>
              <a:t>learn.</a:t>
            </a:r>
          </a:p>
          <a:p>
            <a:pPr>
              <a:lnSpc>
                <a:spcPct val="100000"/>
              </a:lnSpc>
              <a:spcBef>
                <a:spcPts val="1820"/>
              </a:spcBef>
            </a:pPr>
            <a:endParaRPr spc="-10" dirty="0"/>
          </a:p>
          <a:p>
            <a:pPr marL="12700" marR="125730" algn="just">
              <a:lnSpc>
                <a:spcPct val="132700"/>
              </a:lnSpc>
              <a:spcBef>
                <a:spcPts val="5"/>
              </a:spcBef>
            </a:pPr>
            <a:r>
              <a:rPr dirty="0"/>
              <a:t>Unlike</a:t>
            </a:r>
            <a:r>
              <a:rPr spc="-15" dirty="0"/>
              <a:t> </a:t>
            </a:r>
            <a:r>
              <a:rPr spc="-10" dirty="0"/>
              <a:t>conventional</a:t>
            </a:r>
            <a:r>
              <a:rPr spc="-15" dirty="0"/>
              <a:t> </a:t>
            </a:r>
            <a:r>
              <a:rPr dirty="0"/>
              <a:t>chips</a:t>
            </a:r>
            <a:r>
              <a:rPr spc="-15" dirty="0"/>
              <a:t> </a:t>
            </a:r>
            <a:r>
              <a:rPr dirty="0"/>
              <a:t>that</a:t>
            </a:r>
            <a:r>
              <a:rPr spc="-15" dirty="0"/>
              <a:t> </a:t>
            </a:r>
            <a:r>
              <a:rPr dirty="0"/>
              <a:t>follow</a:t>
            </a:r>
            <a:r>
              <a:rPr spc="-50" dirty="0"/>
              <a:t> </a:t>
            </a:r>
            <a:r>
              <a:rPr dirty="0"/>
              <a:t>strict</a:t>
            </a:r>
            <a:r>
              <a:rPr spc="-15" dirty="0"/>
              <a:t> </a:t>
            </a:r>
            <a:r>
              <a:rPr dirty="0"/>
              <a:t>programming</a:t>
            </a:r>
            <a:r>
              <a:rPr spc="-15" dirty="0"/>
              <a:t> </a:t>
            </a:r>
            <a:r>
              <a:rPr dirty="0"/>
              <a:t>instructions,</a:t>
            </a:r>
            <a:r>
              <a:rPr spc="-10" dirty="0"/>
              <a:t> </a:t>
            </a:r>
            <a:r>
              <a:rPr dirty="0"/>
              <a:t>cognitive</a:t>
            </a:r>
            <a:r>
              <a:rPr spc="-15" dirty="0"/>
              <a:t> </a:t>
            </a:r>
            <a:r>
              <a:rPr dirty="0"/>
              <a:t>silicon</a:t>
            </a:r>
            <a:r>
              <a:rPr spc="-15" dirty="0"/>
              <a:t> </a:t>
            </a:r>
            <a:r>
              <a:rPr dirty="0"/>
              <a:t>chips</a:t>
            </a:r>
            <a:r>
              <a:rPr spc="-15" dirty="0"/>
              <a:t> </a:t>
            </a:r>
            <a:r>
              <a:rPr spc="-25" dirty="0"/>
              <a:t>can </a:t>
            </a:r>
            <a:r>
              <a:rPr dirty="0"/>
              <a:t>learn</a:t>
            </a:r>
            <a:r>
              <a:rPr spc="-15" dirty="0"/>
              <a:t> </a:t>
            </a:r>
            <a:r>
              <a:rPr dirty="0"/>
              <a:t>from</a:t>
            </a:r>
            <a:r>
              <a:rPr spc="-15" dirty="0"/>
              <a:t> </a:t>
            </a:r>
            <a:r>
              <a:rPr dirty="0"/>
              <a:t>experience,</a:t>
            </a:r>
            <a:r>
              <a:rPr spc="-15" dirty="0"/>
              <a:t> </a:t>
            </a:r>
            <a:r>
              <a:rPr dirty="0"/>
              <a:t>recognise</a:t>
            </a:r>
            <a:r>
              <a:rPr spc="-15" dirty="0"/>
              <a:t> </a:t>
            </a:r>
            <a:r>
              <a:rPr dirty="0"/>
              <a:t>patterns,</a:t>
            </a:r>
            <a:r>
              <a:rPr spc="-1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make</a:t>
            </a:r>
            <a:r>
              <a:rPr spc="-15" dirty="0"/>
              <a:t> </a:t>
            </a:r>
            <a:r>
              <a:rPr dirty="0"/>
              <a:t>decisions</a:t>
            </a:r>
            <a:r>
              <a:rPr spc="-15" dirty="0"/>
              <a:t> </a:t>
            </a:r>
            <a:r>
              <a:rPr dirty="0"/>
              <a:t>based</a:t>
            </a:r>
            <a:r>
              <a:rPr spc="-15" dirty="0"/>
              <a:t> </a:t>
            </a:r>
            <a:r>
              <a:rPr dirty="0"/>
              <a:t>on</a:t>
            </a:r>
            <a:r>
              <a:rPr spc="-15" dirty="0"/>
              <a:t> </a:t>
            </a:r>
            <a:r>
              <a:rPr dirty="0"/>
              <a:t>incomplete</a:t>
            </a:r>
            <a:r>
              <a:rPr spc="-15" dirty="0"/>
              <a:t> </a:t>
            </a:r>
            <a:r>
              <a:rPr spc="-10" dirty="0"/>
              <a:t>information—</a:t>
            </a:r>
            <a:r>
              <a:rPr dirty="0"/>
              <a:t>just</a:t>
            </a:r>
            <a:r>
              <a:rPr spc="-15" dirty="0"/>
              <a:t> </a:t>
            </a:r>
            <a:r>
              <a:rPr dirty="0"/>
              <a:t>like</a:t>
            </a:r>
            <a:r>
              <a:rPr spc="-15" dirty="0"/>
              <a:t> </a:t>
            </a:r>
            <a:r>
              <a:rPr dirty="0"/>
              <a:t>we</a:t>
            </a:r>
            <a:r>
              <a:rPr spc="-15" dirty="0"/>
              <a:t> </a:t>
            </a:r>
            <a:r>
              <a:rPr spc="-25" dirty="0"/>
              <a:t>do.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32188" y="1790002"/>
            <a:ext cx="4255935" cy="56743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144000" y="0"/>
            <a:ext cx="5487035" cy="8230234"/>
            <a:chOff x="9144000" y="0"/>
            <a:chExt cx="5487035" cy="823023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39191" y="7749526"/>
              <a:ext cx="1722640" cy="41147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0" y="0"/>
              <a:ext cx="5486450" cy="8229683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81684" y="1048704"/>
            <a:ext cx="4846955" cy="1406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5560"/>
              </a:lnSpc>
            </a:pPr>
            <a:r>
              <a:rPr sz="4400" dirty="0"/>
              <a:t>Why</a:t>
            </a:r>
            <a:r>
              <a:rPr sz="4400" spc="-70" dirty="0"/>
              <a:t> </a:t>
            </a:r>
            <a:r>
              <a:rPr sz="4400" dirty="0"/>
              <a:t>Do</a:t>
            </a:r>
            <a:r>
              <a:rPr sz="4400" spc="-70" dirty="0"/>
              <a:t> </a:t>
            </a:r>
            <a:r>
              <a:rPr sz="4400" dirty="0"/>
              <a:t>We</a:t>
            </a:r>
            <a:r>
              <a:rPr sz="4400" spc="-70" dirty="0"/>
              <a:t> </a:t>
            </a:r>
            <a:r>
              <a:rPr sz="4400" spc="-20" dirty="0"/>
              <a:t>Need </a:t>
            </a:r>
            <a:r>
              <a:rPr sz="4400" dirty="0"/>
              <a:t>Cognitive</a:t>
            </a:r>
            <a:r>
              <a:rPr sz="4400" spc="5" dirty="0"/>
              <a:t> </a:t>
            </a:r>
            <a:r>
              <a:rPr sz="4400" spc="-10" dirty="0"/>
              <a:t>Silicon?</a:t>
            </a:r>
            <a:endParaRPr sz="4400"/>
          </a:p>
        </p:txBody>
      </p:sp>
      <p:sp>
        <p:nvSpPr>
          <p:cNvPr id="6" name="object 6"/>
          <p:cNvSpPr/>
          <p:nvPr/>
        </p:nvSpPr>
        <p:spPr>
          <a:xfrm>
            <a:off x="793775" y="2847467"/>
            <a:ext cx="3665220" cy="2395855"/>
          </a:xfrm>
          <a:custGeom>
            <a:avLst/>
            <a:gdLst/>
            <a:ahLst/>
            <a:cxnLst/>
            <a:rect l="l" t="t" r="r" b="b"/>
            <a:pathLst>
              <a:path w="3665220" h="2395854">
                <a:moveTo>
                  <a:pt x="3630803" y="0"/>
                </a:moveTo>
                <a:lnTo>
                  <a:pt x="34036" y="0"/>
                </a:lnTo>
                <a:lnTo>
                  <a:pt x="20788" y="2674"/>
                </a:lnTo>
                <a:lnTo>
                  <a:pt x="9969" y="9969"/>
                </a:lnTo>
                <a:lnTo>
                  <a:pt x="2674" y="20788"/>
                </a:lnTo>
                <a:lnTo>
                  <a:pt x="0" y="34036"/>
                </a:lnTo>
                <a:lnTo>
                  <a:pt x="0" y="2361692"/>
                </a:lnTo>
                <a:lnTo>
                  <a:pt x="2674" y="2374939"/>
                </a:lnTo>
                <a:lnTo>
                  <a:pt x="9969" y="2385758"/>
                </a:lnTo>
                <a:lnTo>
                  <a:pt x="20788" y="2393053"/>
                </a:lnTo>
                <a:lnTo>
                  <a:pt x="34036" y="2395728"/>
                </a:lnTo>
                <a:lnTo>
                  <a:pt x="3630803" y="2395728"/>
                </a:lnTo>
                <a:lnTo>
                  <a:pt x="3644050" y="2393053"/>
                </a:lnTo>
                <a:lnTo>
                  <a:pt x="3654869" y="2385758"/>
                </a:lnTo>
                <a:lnTo>
                  <a:pt x="3662164" y="2374939"/>
                </a:lnTo>
                <a:lnTo>
                  <a:pt x="3664839" y="2361692"/>
                </a:lnTo>
                <a:lnTo>
                  <a:pt x="3664839" y="34036"/>
                </a:lnTo>
                <a:lnTo>
                  <a:pt x="3662164" y="20788"/>
                </a:lnTo>
                <a:lnTo>
                  <a:pt x="3654869" y="9969"/>
                </a:lnTo>
                <a:lnTo>
                  <a:pt x="3644050" y="2674"/>
                </a:lnTo>
                <a:lnTo>
                  <a:pt x="3630803" y="0"/>
                </a:lnTo>
                <a:close/>
              </a:path>
            </a:pathLst>
          </a:custGeom>
          <a:solidFill>
            <a:srgbClr val="EEE8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8697" y="3055632"/>
            <a:ext cx="2422525" cy="19513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dirty="0">
                <a:solidFill>
                  <a:srgbClr val="746558"/>
                </a:solidFill>
                <a:latin typeface="Georgia Pro SemiBold"/>
                <a:cs typeface="Georgia Pro SemiBold"/>
              </a:rPr>
              <a:t>Power</a:t>
            </a:r>
            <a:r>
              <a:rPr sz="2150" b="1" spc="70" dirty="0">
                <a:solidFill>
                  <a:srgbClr val="746558"/>
                </a:solidFill>
                <a:latin typeface="Georgia Pro SemiBold"/>
                <a:cs typeface="Georgia Pro SemiBold"/>
              </a:rPr>
              <a:t> </a:t>
            </a:r>
            <a:r>
              <a:rPr sz="2150" b="1" spc="-10" dirty="0">
                <a:solidFill>
                  <a:srgbClr val="746558"/>
                </a:solidFill>
                <a:latin typeface="Georgia Pro SemiBold"/>
                <a:cs typeface="Georgia Pro SemiBold"/>
              </a:rPr>
              <a:t>Problem</a:t>
            </a:r>
            <a:endParaRPr sz="2150">
              <a:latin typeface="Georgia Pro SemiBold"/>
              <a:cs typeface="Georgia Pro SemiBold"/>
            </a:endParaRPr>
          </a:p>
          <a:p>
            <a:pPr marL="12700" marR="5080">
              <a:lnSpc>
                <a:spcPct val="143500"/>
              </a:lnSpc>
              <a:spcBef>
                <a:spcPts val="844"/>
              </a:spcBef>
            </a:pP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Traditional</a:t>
            </a:r>
            <a:r>
              <a:rPr sz="170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chips</a:t>
            </a:r>
            <a:r>
              <a:rPr sz="170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consume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massive</a:t>
            </a:r>
            <a:r>
              <a:rPr sz="1700" spc="4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amounts</a:t>
            </a:r>
            <a:r>
              <a:rPr sz="170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of</a:t>
            </a:r>
            <a:r>
              <a:rPr sz="170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energy,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making</a:t>
            </a:r>
            <a:r>
              <a:rPr sz="170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them</a:t>
            </a:r>
            <a:r>
              <a:rPr sz="170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inefficient</a:t>
            </a:r>
            <a:r>
              <a:rPr sz="170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25" dirty="0">
                <a:solidFill>
                  <a:srgbClr val="746558"/>
                </a:solidFill>
                <a:latin typeface="Yrsa"/>
                <a:cs typeface="Yrsa"/>
              </a:rPr>
              <a:t>for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mobile</a:t>
            </a:r>
            <a:r>
              <a:rPr sz="1700" spc="3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and</a:t>
            </a:r>
            <a:r>
              <a:rPr sz="1700" spc="3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edge</a:t>
            </a:r>
            <a:r>
              <a:rPr sz="1700" spc="3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devices</a:t>
            </a:r>
            <a:endParaRPr sz="1700">
              <a:latin typeface="Yrsa"/>
              <a:cs typeface="Yrs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85398" y="2847467"/>
            <a:ext cx="3665220" cy="2395855"/>
          </a:xfrm>
          <a:custGeom>
            <a:avLst/>
            <a:gdLst/>
            <a:ahLst/>
            <a:cxnLst/>
            <a:rect l="l" t="t" r="r" b="b"/>
            <a:pathLst>
              <a:path w="3665220" h="2395854">
                <a:moveTo>
                  <a:pt x="3630803" y="0"/>
                </a:moveTo>
                <a:lnTo>
                  <a:pt x="33909" y="0"/>
                </a:lnTo>
                <a:lnTo>
                  <a:pt x="20681" y="2674"/>
                </a:lnTo>
                <a:lnTo>
                  <a:pt x="9906" y="9969"/>
                </a:lnTo>
                <a:lnTo>
                  <a:pt x="2655" y="20788"/>
                </a:lnTo>
                <a:lnTo>
                  <a:pt x="0" y="34036"/>
                </a:lnTo>
                <a:lnTo>
                  <a:pt x="0" y="2361692"/>
                </a:lnTo>
                <a:lnTo>
                  <a:pt x="2655" y="2374939"/>
                </a:lnTo>
                <a:lnTo>
                  <a:pt x="9906" y="2385758"/>
                </a:lnTo>
                <a:lnTo>
                  <a:pt x="20681" y="2393053"/>
                </a:lnTo>
                <a:lnTo>
                  <a:pt x="33909" y="2395728"/>
                </a:lnTo>
                <a:lnTo>
                  <a:pt x="3630803" y="2395728"/>
                </a:lnTo>
                <a:lnTo>
                  <a:pt x="3644050" y="2393053"/>
                </a:lnTo>
                <a:lnTo>
                  <a:pt x="3654869" y="2385758"/>
                </a:lnTo>
                <a:lnTo>
                  <a:pt x="3662164" y="2374939"/>
                </a:lnTo>
                <a:lnTo>
                  <a:pt x="3664839" y="2361692"/>
                </a:lnTo>
                <a:lnTo>
                  <a:pt x="3664839" y="34036"/>
                </a:lnTo>
                <a:lnTo>
                  <a:pt x="3662164" y="20788"/>
                </a:lnTo>
                <a:lnTo>
                  <a:pt x="3654869" y="9969"/>
                </a:lnTo>
                <a:lnTo>
                  <a:pt x="3644050" y="2674"/>
                </a:lnTo>
                <a:lnTo>
                  <a:pt x="3630803" y="0"/>
                </a:lnTo>
                <a:close/>
              </a:path>
            </a:pathLst>
          </a:custGeom>
          <a:solidFill>
            <a:srgbClr val="EEE8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902453" y="3055632"/>
            <a:ext cx="3001645" cy="15805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dirty="0">
                <a:solidFill>
                  <a:srgbClr val="746558"/>
                </a:solidFill>
                <a:latin typeface="Georgia Pro SemiBold"/>
                <a:cs typeface="Georgia Pro SemiBold"/>
              </a:rPr>
              <a:t>Speed</a:t>
            </a:r>
            <a:r>
              <a:rPr sz="2150" b="1" spc="65" dirty="0">
                <a:solidFill>
                  <a:srgbClr val="746558"/>
                </a:solidFill>
                <a:latin typeface="Georgia Pro SemiBold"/>
                <a:cs typeface="Georgia Pro SemiBold"/>
              </a:rPr>
              <a:t> </a:t>
            </a:r>
            <a:r>
              <a:rPr sz="2150" b="1" spc="-10" dirty="0">
                <a:solidFill>
                  <a:srgbClr val="746558"/>
                </a:solidFill>
                <a:latin typeface="Georgia Pro SemiBold"/>
                <a:cs typeface="Georgia Pro SemiBold"/>
              </a:rPr>
              <a:t>Limit</a:t>
            </a:r>
            <a:endParaRPr sz="2150">
              <a:latin typeface="Georgia Pro SemiBold"/>
              <a:cs typeface="Georgia Pro SemiBold"/>
            </a:endParaRPr>
          </a:p>
          <a:p>
            <a:pPr marL="12700" marR="5080" indent="-635">
              <a:lnSpc>
                <a:spcPct val="143500"/>
              </a:lnSpc>
              <a:spcBef>
                <a:spcPts val="844"/>
              </a:spcBef>
            </a:pP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Conventional</a:t>
            </a:r>
            <a:r>
              <a:rPr sz="170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processors</a:t>
            </a:r>
            <a:r>
              <a:rPr sz="1700" spc="6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struggle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with</a:t>
            </a:r>
            <a:r>
              <a:rPr sz="1700" spc="3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complex</a:t>
            </a:r>
            <a:r>
              <a:rPr sz="1700" spc="3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AI</a:t>
            </a:r>
            <a:r>
              <a:rPr sz="1700" spc="3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tasks</a:t>
            </a:r>
            <a:r>
              <a:rPr sz="1700" spc="3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that</a:t>
            </a:r>
            <a:r>
              <a:rPr sz="1700" spc="4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require real-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time</a:t>
            </a:r>
            <a:r>
              <a:rPr sz="1700" spc="6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decision</a:t>
            </a:r>
            <a:r>
              <a:rPr sz="1700" spc="6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making</a:t>
            </a:r>
            <a:endParaRPr sz="1700">
              <a:latin typeface="Yrsa"/>
              <a:cs typeface="Yrs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93775" y="5470016"/>
            <a:ext cx="7556500" cy="1670050"/>
          </a:xfrm>
          <a:custGeom>
            <a:avLst/>
            <a:gdLst/>
            <a:ahLst/>
            <a:cxnLst/>
            <a:rect l="l" t="t" r="r" b="b"/>
            <a:pathLst>
              <a:path w="7556500" h="1670050">
                <a:moveTo>
                  <a:pt x="7522464" y="0"/>
                </a:moveTo>
                <a:lnTo>
                  <a:pt x="34036" y="0"/>
                </a:lnTo>
                <a:lnTo>
                  <a:pt x="20788" y="2674"/>
                </a:lnTo>
                <a:lnTo>
                  <a:pt x="9969" y="9969"/>
                </a:lnTo>
                <a:lnTo>
                  <a:pt x="2674" y="20788"/>
                </a:lnTo>
                <a:lnTo>
                  <a:pt x="0" y="34036"/>
                </a:lnTo>
                <a:lnTo>
                  <a:pt x="0" y="1635760"/>
                </a:lnTo>
                <a:lnTo>
                  <a:pt x="2674" y="1649007"/>
                </a:lnTo>
                <a:lnTo>
                  <a:pt x="9969" y="1659826"/>
                </a:lnTo>
                <a:lnTo>
                  <a:pt x="20788" y="1667121"/>
                </a:lnTo>
                <a:lnTo>
                  <a:pt x="34036" y="1669796"/>
                </a:lnTo>
                <a:lnTo>
                  <a:pt x="7522464" y="1669796"/>
                </a:lnTo>
                <a:lnTo>
                  <a:pt x="7535711" y="1667121"/>
                </a:lnTo>
                <a:lnTo>
                  <a:pt x="7546530" y="1659826"/>
                </a:lnTo>
                <a:lnTo>
                  <a:pt x="7553825" y="1649007"/>
                </a:lnTo>
                <a:lnTo>
                  <a:pt x="7556500" y="1635760"/>
                </a:lnTo>
                <a:lnTo>
                  <a:pt x="7556500" y="34036"/>
                </a:lnTo>
                <a:lnTo>
                  <a:pt x="7553825" y="20788"/>
                </a:lnTo>
                <a:lnTo>
                  <a:pt x="7546530" y="9969"/>
                </a:lnTo>
                <a:lnTo>
                  <a:pt x="7535711" y="2674"/>
                </a:lnTo>
                <a:lnTo>
                  <a:pt x="7522464" y="0"/>
                </a:lnTo>
                <a:close/>
              </a:path>
            </a:pathLst>
          </a:custGeom>
          <a:solidFill>
            <a:srgbClr val="EEE8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08697" y="5679770"/>
            <a:ext cx="5224145" cy="12096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dirty="0">
                <a:solidFill>
                  <a:srgbClr val="746558"/>
                </a:solidFill>
                <a:latin typeface="Georgia Pro SemiBold"/>
                <a:cs typeface="Georgia Pro SemiBold"/>
              </a:rPr>
              <a:t>Learning</a:t>
            </a:r>
            <a:r>
              <a:rPr sz="2150" b="1" spc="90" dirty="0">
                <a:solidFill>
                  <a:srgbClr val="746558"/>
                </a:solidFill>
                <a:latin typeface="Georgia Pro SemiBold"/>
                <a:cs typeface="Georgia Pro SemiBold"/>
              </a:rPr>
              <a:t> </a:t>
            </a:r>
            <a:r>
              <a:rPr sz="2150" b="1" spc="-25" dirty="0">
                <a:solidFill>
                  <a:srgbClr val="746558"/>
                </a:solidFill>
                <a:latin typeface="Georgia Pro SemiBold"/>
                <a:cs typeface="Georgia Pro SemiBold"/>
              </a:rPr>
              <a:t>Gap</a:t>
            </a:r>
            <a:endParaRPr sz="2150">
              <a:latin typeface="Georgia Pro SemiBold"/>
              <a:cs typeface="Georgia Pro SemiBold"/>
            </a:endParaRPr>
          </a:p>
          <a:p>
            <a:pPr marL="12700" marR="5080">
              <a:lnSpc>
                <a:spcPct val="143400"/>
              </a:lnSpc>
              <a:spcBef>
                <a:spcPts val="860"/>
              </a:spcBef>
            </a:pP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Standard</a:t>
            </a:r>
            <a:r>
              <a:rPr sz="1700" spc="4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chips</a:t>
            </a:r>
            <a:r>
              <a:rPr sz="1700" spc="4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cannot</a:t>
            </a:r>
            <a:r>
              <a:rPr sz="1700" spc="4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learn</a:t>
            </a:r>
            <a:r>
              <a:rPr sz="1700" spc="4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or</a:t>
            </a:r>
            <a:r>
              <a:rPr sz="1700" spc="1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adapt</a:t>
            </a:r>
            <a:r>
              <a:rPr sz="1700" spc="4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easily—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they need</a:t>
            </a:r>
            <a:r>
              <a:rPr sz="1700" spc="4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to</a:t>
            </a:r>
            <a:r>
              <a:rPr sz="1700" spc="4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25" dirty="0">
                <a:solidFill>
                  <a:srgbClr val="746558"/>
                </a:solidFill>
                <a:latin typeface="Yrsa"/>
                <a:cs typeface="Yrsa"/>
              </a:rPr>
              <a:t>be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reprogrammed</a:t>
            </a:r>
            <a:r>
              <a:rPr sz="1700" spc="3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for</a:t>
            </a:r>
            <a:r>
              <a:rPr sz="1700" spc="1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every new</a:t>
            </a:r>
            <a:r>
              <a:rPr sz="1700" spc="-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20" dirty="0">
                <a:solidFill>
                  <a:srgbClr val="746558"/>
                </a:solidFill>
                <a:latin typeface="Yrsa"/>
                <a:cs typeface="Yrsa"/>
              </a:rPr>
              <a:t>task</a:t>
            </a:r>
            <a:endParaRPr sz="1700">
              <a:latin typeface="Yrsa"/>
              <a:cs typeface="Yrs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1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 dirty="0"/>
              <a:t>How</a:t>
            </a:r>
            <a:r>
              <a:rPr sz="4400" spc="-5" dirty="0"/>
              <a:t> </a:t>
            </a:r>
            <a:r>
              <a:rPr sz="4400" dirty="0"/>
              <a:t>Brain-Like</a:t>
            </a:r>
            <a:r>
              <a:rPr sz="4400" spc="5" dirty="0"/>
              <a:t> </a:t>
            </a:r>
            <a:r>
              <a:rPr sz="4400" dirty="0"/>
              <a:t>Chips</a:t>
            </a:r>
            <a:r>
              <a:rPr sz="4400" spc="5" dirty="0"/>
              <a:t> </a:t>
            </a:r>
            <a:r>
              <a:rPr sz="4400" spc="-20" dirty="0"/>
              <a:t>Work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778509" y="2196795"/>
            <a:ext cx="4194175" cy="45091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25"/>
              </a:spcBef>
            </a:pPr>
            <a:r>
              <a:rPr sz="2600" b="1" dirty="0">
                <a:solidFill>
                  <a:srgbClr val="484237"/>
                </a:solidFill>
                <a:latin typeface="Georgia Pro SemiBold"/>
                <a:cs typeface="Georgia Pro SemiBold"/>
              </a:rPr>
              <a:t>The</a:t>
            </a:r>
            <a:r>
              <a:rPr sz="2600" b="1" spc="50" dirty="0">
                <a:solidFill>
                  <a:srgbClr val="484237"/>
                </a:solidFill>
                <a:latin typeface="Georgia Pro SemiBold"/>
                <a:cs typeface="Georgia Pro SemiBold"/>
              </a:rPr>
              <a:t> </a:t>
            </a:r>
            <a:r>
              <a:rPr sz="2600" b="1" spc="-10" dirty="0">
                <a:solidFill>
                  <a:srgbClr val="484237"/>
                </a:solidFill>
                <a:latin typeface="Georgia Pro SemiBold"/>
                <a:cs typeface="Georgia Pro SemiBold"/>
              </a:rPr>
              <a:t>Concept</a:t>
            </a:r>
            <a:endParaRPr sz="2600">
              <a:latin typeface="Georgia Pro SemiBold"/>
              <a:cs typeface="Georgia Pro SemiBold"/>
            </a:endParaRPr>
          </a:p>
          <a:p>
            <a:pPr marL="15240" marR="5080">
              <a:lnSpc>
                <a:spcPct val="142800"/>
              </a:lnSpc>
              <a:spcBef>
                <a:spcPts val="1670"/>
              </a:spcBef>
            </a:pP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These</a:t>
            </a:r>
            <a:r>
              <a:rPr sz="1700" spc="4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chips</a:t>
            </a:r>
            <a:r>
              <a:rPr sz="1700" spc="4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contain</a:t>
            </a:r>
            <a:r>
              <a:rPr sz="1700" spc="4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D3C5B6"/>
                </a:solidFill>
                <a:latin typeface="Yrsa"/>
                <a:cs typeface="Yrsa"/>
              </a:rPr>
              <a:t>artificial</a:t>
            </a:r>
            <a:r>
              <a:rPr sz="1700" spc="50" dirty="0">
                <a:solidFill>
                  <a:srgbClr val="D3C5B6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D3C5B6"/>
                </a:solidFill>
                <a:latin typeface="Yrsa"/>
                <a:cs typeface="Yrsa"/>
              </a:rPr>
              <a:t>neurons</a:t>
            </a:r>
            <a:r>
              <a:rPr sz="1700" spc="45" dirty="0">
                <a:solidFill>
                  <a:srgbClr val="D3C5B6"/>
                </a:solidFill>
                <a:latin typeface="Yrsa"/>
                <a:cs typeface="Yrsa"/>
              </a:rPr>
              <a:t> </a:t>
            </a:r>
            <a:r>
              <a:rPr sz="1700" spc="-20" dirty="0">
                <a:solidFill>
                  <a:srgbClr val="746558"/>
                </a:solidFill>
                <a:latin typeface="Yrsa"/>
                <a:cs typeface="Yrsa"/>
              </a:rPr>
              <a:t>that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communicate</a:t>
            </a:r>
            <a:r>
              <a:rPr sz="1700" spc="6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using</a:t>
            </a:r>
            <a:r>
              <a:rPr sz="1700" spc="6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electrical</a:t>
            </a:r>
            <a:r>
              <a:rPr sz="1700" spc="6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signals</a:t>
            </a:r>
            <a:r>
              <a:rPr sz="1700" spc="6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called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spikes</a:t>
            </a:r>
            <a:r>
              <a:rPr sz="1700" spc="3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or</a:t>
            </a:r>
            <a:r>
              <a:rPr sz="1700" spc="1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pulses.</a:t>
            </a:r>
            <a:r>
              <a:rPr sz="1700" spc="4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When</a:t>
            </a:r>
            <a:r>
              <a:rPr sz="1700" spc="4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enough</a:t>
            </a:r>
            <a:r>
              <a:rPr sz="1700" spc="4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signals</a:t>
            </a:r>
            <a:r>
              <a:rPr sz="1700" spc="3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reach</a:t>
            </a:r>
            <a:r>
              <a:rPr sz="1700" spc="4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50" dirty="0">
                <a:solidFill>
                  <a:srgbClr val="746558"/>
                </a:solidFill>
                <a:latin typeface="Yrsa"/>
                <a:cs typeface="Yrsa"/>
              </a:rPr>
              <a:t>a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neuron,</a:t>
            </a:r>
            <a:r>
              <a:rPr sz="1700" spc="3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it</a:t>
            </a:r>
            <a:r>
              <a:rPr sz="1700" spc="3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"fires"</a:t>
            </a:r>
            <a:r>
              <a:rPr sz="1700" spc="3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and</a:t>
            </a:r>
            <a:r>
              <a:rPr sz="1700" spc="3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sends</a:t>
            </a:r>
            <a:r>
              <a:rPr sz="1700" spc="3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signals</a:t>
            </a:r>
            <a:r>
              <a:rPr sz="1700" spc="3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to</a:t>
            </a:r>
            <a:r>
              <a:rPr sz="1700" spc="3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connected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neurons—mimicking</a:t>
            </a:r>
            <a:r>
              <a:rPr sz="1700" spc="6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how</a:t>
            </a:r>
            <a:r>
              <a:rPr sz="1700" spc="3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brain</a:t>
            </a:r>
            <a:r>
              <a:rPr sz="1700" spc="7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cells</a:t>
            </a:r>
            <a:r>
              <a:rPr sz="1700" spc="7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work.</a:t>
            </a:r>
            <a:endParaRPr sz="1700">
              <a:latin typeface="Yrsa"/>
              <a:cs typeface="Yrsa"/>
            </a:endParaRPr>
          </a:p>
          <a:p>
            <a:pPr>
              <a:lnSpc>
                <a:spcPct val="100000"/>
              </a:lnSpc>
              <a:spcBef>
                <a:spcPts val="1895"/>
              </a:spcBef>
            </a:pPr>
            <a:endParaRPr sz="1700">
              <a:latin typeface="Yrsa"/>
              <a:cs typeface="Yrsa"/>
            </a:endParaRPr>
          </a:p>
          <a:p>
            <a:pPr marL="12700" marR="88265">
              <a:lnSpc>
                <a:spcPct val="143400"/>
              </a:lnSpc>
            </a:pP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The</a:t>
            </a:r>
            <a:r>
              <a:rPr sz="170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connections</a:t>
            </a:r>
            <a:r>
              <a:rPr sz="170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between</a:t>
            </a:r>
            <a:r>
              <a:rPr sz="170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artificial</a:t>
            </a:r>
            <a:r>
              <a:rPr sz="170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neurons</a:t>
            </a:r>
            <a:r>
              <a:rPr sz="170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25" dirty="0">
                <a:solidFill>
                  <a:srgbClr val="746558"/>
                </a:solidFill>
                <a:latin typeface="Yrsa"/>
                <a:cs typeface="Yrsa"/>
              </a:rPr>
              <a:t>can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be</a:t>
            </a:r>
            <a:r>
              <a:rPr sz="1700" spc="3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strengthened</a:t>
            </a:r>
            <a:r>
              <a:rPr sz="1700" spc="4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or</a:t>
            </a:r>
            <a:r>
              <a:rPr sz="1700" spc="1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weakened</a:t>
            </a:r>
            <a:r>
              <a:rPr sz="1700" spc="3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based</a:t>
            </a:r>
            <a:r>
              <a:rPr sz="1700" spc="4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25" dirty="0">
                <a:solidFill>
                  <a:srgbClr val="746558"/>
                </a:solidFill>
                <a:latin typeface="Yrsa"/>
                <a:cs typeface="Yrsa"/>
              </a:rPr>
              <a:t>on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experience,</a:t>
            </a:r>
            <a:r>
              <a:rPr sz="1700" spc="4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allowing</a:t>
            </a:r>
            <a:r>
              <a:rPr sz="1700" spc="4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the</a:t>
            </a:r>
            <a:r>
              <a:rPr sz="1700" spc="4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chip</a:t>
            </a:r>
            <a:r>
              <a:rPr sz="1700" spc="4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to</a:t>
            </a:r>
            <a:r>
              <a:rPr sz="1700" spc="4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learn</a:t>
            </a:r>
            <a:r>
              <a:rPr sz="1700" spc="4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patterns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and</a:t>
            </a:r>
            <a:r>
              <a:rPr sz="1700" spc="4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improve</a:t>
            </a:r>
            <a:r>
              <a:rPr sz="170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over</a:t>
            </a:r>
            <a:r>
              <a:rPr sz="1700" spc="2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time.</a:t>
            </a:r>
            <a:endParaRPr sz="1700">
              <a:latin typeface="Yrsa"/>
              <a:cs typeface="Yrs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59920" y="2327402"/>
            <a:ext cx="8284070" cy="46236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529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 dirty="0"/>
              <a:t>Cognitive</a:t>
            </a:r>
            <a:r>
              <a:rPr sz="4400" spc="5" dirty="0"/>
              <a:t> </a:t>
            </a:r>
            <a:r>
              <a:rPr sz="4400" dirty="0"/>
              <a:t>Silicon</a:t>
            </a:r>
            <a:r>
              <a:rPr sz="4400" spc="5" dirty="0"/>
              <a:t> </a:t>
            </a:r>
            <a:r>
              <a:rPr sz="4400" dirty="0"/>
              <a:t>vs</a:t>
            </a:r>
            <a:r>
              <a:rPr sz="4400" spc="5" dirty="0"/>
              <a:t> </a:t>
            </a:r>
            <a:r>
              <a:rPr sz="4400" dirty="0"/>
              <a:t>Traditional</a:t>
            </a:r>
            <a:r>
              <a:rPr sz="4400" spc="5" dirty="0"/>
              <a:t> </a:t>
            </a:r>
            <a:r>
              <a:rPr sz="4400" spc="-10" dirty="0"/>
              <a:t>Processors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778541" y="2590666"/>
            <a:ext cx="4227195" cy="4210685"/>
            <a:chOff x="778541" y="2590666"/>
            <a:chExt cx="4227195" cy="4210685"/>
          </a:xfrm>
        </p:grpSpPr>
        <p:sp>
          <p:nvSpPr>
            <p:cNvPr id="4" name="object 4"/>
            <p:cNvSpPr/>
            <p:nvPr/>
          </p:nvSpPr>
          <p:spPr>
            <a:xfrm>
              <a:off x="793775" y="2605900"/>
              <a:ext cx="4196715" cy="4180204"/>
            </a:xfrm>
            <a:custGeom>
              <a:avLst/>
              <a:gdLst/>
              <a:ahLst/>
              <a:cxnLst/>
              <a:rect l="l" t="t" r="r" b="b"/>
              <a:pathLst>
                <a:path w="4196715" h="4180204">
                  <a:moveTo>
                    <a:pt x="4162425" y="0"/>
                  </a:moveTo>
                  <a:lnTo>
                    <a:pt x="34036" y="0"/>
                  </a:lnTo>
                  <a:lnTo>
                    <a:pt x="20788" y="2674"/>
                  </a:lnTo>
                  <a:lnTo>
                    <a:pt x="9969" y="9969"/>
                  </a:lnTo>
                  <a:lnTo>
                    <a:pt x="2674" y="20788"/>
                  </a:lnTo>
                  <a:lnTo>
                    <a:pt x="0" y="34036"/>
                  </a:lnTo>
                  <a:lnTo>
                    <a:pt x="0" y="4146041"/>
                  </a:lnTo>
                  <a:lnTo>
                    <a:pt x="2674" y="4159289"/>
                  </a:lnTo>
                  <a:lnTo>
                    <a:pt x="9969" y="4170108"/>
                  </a:lnTo>
                  <a:lnTo>
                    <a:pt x="20788" y="4177403"/>
                  </a:lnTo>
                  <a:lnTo>
                    <a:pt x="34036" y="4180078"/>
                  </a:lnTo>
                  <a:lnTo>
                    <a:pt x="4162425" y="4180078"/>
                  </a:lnTo>
                  <a:lnTo>
                    <a:pt x="4175672" y="4177403"/>
                  </a:lnTo>
                  <a:lnTo>
                    <a:pt x="4186491" y="4170108"/>
                  </a:lnTo>
                  <a:lnTo>
                    <a:pt x="4193786" y="4159289"/>
                  </a:lnTo>
                  <a:lnTo>
                    <a:pt x="4196461" y="4146041"/>
                  </a:lnTo>
                  <a:lnTo>
                    <a:pt x="4196461" y="34036"/>
                  </a:lnTo>
                  <a:lnTo>
                    <a:pt x="4193786" y="20788"/>
                  </a:lnTo>
                  <a:lnTo>
                    <a:pt x="4186491" y="9969"/>
                  </a:lnTo>
                  <a:lnTo>
                    <a:pt x="4175672" y="2674"/>
                  </a:lnTo>
                  <a:lnTo>
                    <a:pt x="4162425" y="0"/>
                  </a:lnTo>
                  <a:close/>
                </a:path>
              </a:pathLst>
            </a:custGeom>
            <a:solidFill>
              <a:srgbClr val="F9F6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93775" y="2605900"/>
              <a:ext cx="4196715" cy="4180204"/>
            </a:xfrm>
            <a:custGeom>
              <a:avLst/>
              <a:gdLst/>
              <a:ahLst/>
              <a:cxnLst/>
              <a:rect l="l" t="t" r="r" b="b"/>
              <a:pathLst>
                <a:path w="4196715" h="4180204">
                  <a:moveTo>
                    <a:pt x="0" y="34036"/>
                  </a:moveTo>
                  <a:lnTo>
                    <a:pt x="2674" y="20788"/>
                  </a:lnTo>
                  <a:lnTo>
                    <a:pt x="9969" y="9969"/>
                  </a:lnTo>
                  <a:lnTo>
                    <a:pt x="20788" y="2674"/>
                  </a:lnTo>
                  <a:lnTo>
                    <a:pt x="34036" y="0"/>
                  </a:lnTo>
                  <a:lnTo>
                    <a:pt x="4162425" y="0"/>
                  </a:lnTo>
                  <a:lnTo>
                    <a:pt x="4175672" y="2674"/>
                  </a:lnTo>
                  <a:lnTo>
                    <a:pt x="4186491" y="9969"/>
                  </a:lnTo>
                  <a:lnTo>
                    <a:pt x="4193786" y="20788"/>
                  </a:lnTo>
                  <a:lnTo>
                    <a:pt x="4196461" y="34036"/>
                  </a:lnTo>
                  <a:lnTo>
                    <a:pt x="4196461" y="4146041"/>
                  </a:lnTo>
                  <a:lnTo>
                    <a:pt x="4193786" y="4159289"/>
                  </a:lnTo>
                  <a:lnTo>
                    <a:pt x="4186491" y="4170108"/>
                  </a:lnTo>
                  <a:lnTo>
                    <a:pt x="4175672" y="4177403"/>
                  </a:lnTo>
                  <a:lnTo>
                    <a:pt x="4162425" y="4180078"/>
                  </a:lnTo>
                  <a:lnTo>
                    <a:pt x="34036" y="4180078"/>
                  </a:lnTo>
                  <a:lnTo>
                    <a:pt x="20788" y="4177403"/>
                  </a:lnTo>
                  <a:lnTo>
                    <a:pt x="9969" y="4170108"/>
                  </a:lnTo>
                  <a:lnTo>
                    <a:pt x="2674" y="4159289"/>
                  </a:lnTo>
                  <a:lnTo>
                    <a:pt x="0" y="4146041"/>
                  </a:lnTo>
                  <a:lnTo>
                    <a:pt x="0" y="34036"/>
                  </a:lnTo>
                  <a:close/>
                </a:path>
              </a:pathLst>
            </a:custGeom>
            <a:ln w="30467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24230" y="2636393"/>
              <a:ext cx="4135754" cy="680720"/>
            </a:xfrm>
            <a:custGeom>
              <a:avLst/>
              <a:gdLst/>
              <a:ahLst/>
              <a:cxnLst/>
              <a:rect l="l" t="t" r="r" b="b"/>
              <a:pathLst>
                <a:path w="4135754" h="680720">
                  <a:moveTo>
                    <a:pt x="4135374" y="0"/>
                  </a:moveTo>
                  <a:lnTo>
                    <a:pt x="0" y="0"/>
                  </a:lnTo>
                  <a:lnTo>
                    <a:pt x="0" y="680465"/>
                  </a:lnTo>
                  <a:lnTo>
                    <a:pt x="4135374" y="680465"/>
                  </a:lnTo>
                  <a:lnTo>
                    <a:pt x="4135374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84908" y="2812557"/>
              <a:ext cx="113880" cy="6666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9535" y="2856340"/>
              <a:ext cx="112957" cy="11864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84675" y="3072917"/>
              <a:ext cx="123263" cy="6437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86342" y="2812574"/>
              <a:ext cx="112620" cy="6685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83271" y="3076592"/>
              <a:ext cx="115461" cy="607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28179" y="2963823"/>
              <a:ext cx="71891" cy="12729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91221" y="2961965"/>
              <a:ext cx="67623" cy="12840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963329" y="3021406"/>
              <a:ext cx="35560" cy="61594"/>
            </a:xfrm>
            <a:custGeom>
              <a:avLst/>
              <a:gdLst/>
              <a:ahLst/>
              <a:cxnLst/>
              <a:rect l="l" t="t" r="r" b="b"/>
              <a:pathLst>
                <a:path w="35560" h="61594">
                  <a:moveTo>
                    <a:pt x="0" y="0"/>
                  </a:moveTo>
                  <a:lnTo>
                    <a:pt x="14731" y="11463"/>
                  </a:lnTo>
                  <a:lnTo>
                    <a:pt x="25844" y="26082"/>
                  </a:lnTo>
                  <a:lnTo>
                    <a:pt x="32861" y="43058"/>
                  </a:lnTo>
                  <a:lnTo>
                    <a:pt x="35306" y="61594"/>
                  </a:lnTo>
                </a:path>
              </a:pathLst>
            </a:custGeom>
            <a:ln w="13830">
              <a:solidFill>
                <a:srgbClr val="7465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891536" y="2852534"/>
              <a:ext cx="635" cy="243840"/>
            </a:xfrm>
            <a:custGeom>
              <a:avLst/>
              <a:gdLst/>
              <a:ahLst/>
              <a:cxnLst/>
              <a:rect l="l" t="t" r="r" b="b"/>
              <a:pathLst>
                <a:path w="635" h="243839">
                  <a:moveTo>
                    <a:pt x="254" y="0"/>
                  </a:moveTo>
                  <a:lnTo>
                    <a:pt x="0" y="243586"/>
                  </a:lnTo>
                </a:path>
              </a:pathLst>
            </a:custGeom>
            <a:ln w="13830">
              <a:solidFill>
                <a:srgbClr val="7465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91002" y="3038106"/>
              <a:ext cx="47625" cy="49530"/>
            </a:xfrm>
            <a:custGeom>
              <a:avLst/>
              <a:gdLst/>
              <a:ahLst/>
              <a:cxnLst/>
              <a:rect l="l" t="t" r="r" b="b"/>
              <a:pathLst>
                <a:path w="47625" h="49530">
                  <a:moveTo>
                    <a:pt x="0" y="49022"/>
                  </a:moveTo>
                  <a:lnTo>
                    <a:pt x="9308" y="34522"/>
                  </a:lnTo>
                  <a:lnTo>
                    <a:pt x="20367" y="21415"/>
                  </a:lnTo>
                  <a:lnTo>
                    <a:pt x="33021" y="9856"/>
                  </a:lnTo>
                  <a:lnTo>
                    <a:pt x="47117" y="0"/>
                  </a:lnTo>
                </a:path>
              </a:pathLst>
            </a:custGeom>
            <a:ln w="13830">
              <a:solidFill>
                <a:srgbClr val="7465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41243" y="2856970"/>
              <a:ext cx="77262" cy="1293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793530" y="2872181"/>
              <a:ext cx="40640" cy="44450"/>
            </a:xfrm>
            <a:custGeom>
              <a:avLst/>
              <a:gdLst/>
              <a:ahLst/>
              <a:cxnLst/>
              <a:rect l="l" t="t" r="r" b="b"/>
              <a:pathLst>
                <a:path w="40639" h="44450">
                  <a:moveTo>
                    <a:pt x="40258" y="44196"/>
                  </a:moveTo>
                  <a:lnTo>
                    <a:pt x="27021" y="36343"/>
                  </a:lnTo>
                  <a:lnTo>
                    <a:pt x="15700" y="26146"/>
                  </a:lnTo>
                  <a:lnTo>
                    <a:pt x="6594" y="13924"/>
                  </a:lnTo>
                  <a:lnTo>
                    <a:pt x="0" y="0"/>
                  </a:lnTo>
                </a:path>
              </a:pathLst>
            </a:custGeom>
            <a:ln w="13830">
              <a:solidFill>
                <a:srgbClr val="7465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039164" y="3525532"/>
            <a:ext cx="3196590" cy="199961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dirty="0">
                <a:solidFill>
                  <a:srgbClr val="746558"/>
                </a:solidFill>
                <a:latin typeface="Georgia Pro SemiBold"/>
                <a:cs typeface="Georgia Pro SemiBold"/>
              </a:rPr>
              <a:t>Neuromorphic</a:t>
            </a:r>
            <a:r>
              <a:rPr sz="2150" b="1" spc="155" dirty="0">
                <a:solidFill>
                  <a:srgbClr val="746558"/>
                </a:solidFill>
                <a:latin typeface="Georgia Pro SemiBold"/>
                <a:cs typeface="Georgia Pro SemiBold"/>
              </a:rPr>
              <a:t> </a:t>
            </a:r>
            <a:r>
              <a:rPr sz="2150" b="1" spc="-10" dirty="0">
                <a:solidFill>
                  <a:srgbClr val="746558"/>
                </a:solidFill>
                <a:latin typeface="Georgia Pro SemiBold"/>
                <a:cs typeface="Georgia Pro SemiBold"/>
              </a:rPr>
              <a:t>Chips</a:t>
            </a:r>
            <a:endParaRPr sz="2150">
              <a:latin typeface="Georgia Pro SemiBold"/>
              <a:cs typeface="Georgia Pro SemiBold"/>
            </a:endParaRPr>
          </a:p>
          <a:p>
            <a:pPr marL="198120" indent="-185420">
              <a:lnSpc>
                <a:spcPct val="100000"/>
              </a:lnSpc>
              <a:spcBef>
                <a:spcPts val="1739"/>
              </a:spcBef>
              <a:buFont typeface="Liberation Serif"/>
              <a:buChar char="•"/>
              <a:tabLst>
                <a:tab pos="198120" algn="l"/>
              </a:tabLst>
            </a:pP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Massively</a:t>
            </a:r>
            <a:r>
              <a:rPr sz="1700" spc="2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parallel</a:t>
            </a:r>
            <a:r>
              <a:rPr sz="1700" spc="6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processing</a:t>
            </a:r>
            <a:endParaRPr sz="1700">
              <a:latin typeface="Yrsa"/>
              <a:cs typeface="Yrsa"/>
            </a:endParaRPr>
          </a:p>
          <a:p>
            <a:pPr marL="198120" indent="-185420">
              <a:lnSpc>
                <a:spcPct val="100000"/>
              </a:lnSpc>
              <a:spcBef>
                <a:spcPts val="35"/>
              </a:spcBef>
              <a:buFont typeface="Liberation Serif"/>
              <a:buChar char="•"/>
              <a:tabLst>
                <a:tab pos="198120" algn="l"/>
              </a:tabLst>
            </a:pP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Event-driven</a:t>
            </a:r>
            <a:r>
              <a:rPr sz="1700" spc="17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computation</a:t>
            </a:r>
            <a:endParaRPr sz="1700">
              <a:latin typeface="Yrsa"/>
              <a:cs typeface="Yrsa"/>
            </a:endParaRPr>
          </a:p>
          <a:p>
            <a:pPr marL="198120" indent="-185420">
              <a:lnSpc>
                <a:spcPct val="100000"/>
              </a:lnSpc>
              <a:spcBef>
                <a:spcPts val="890"/>
              </a:spcBef>
              <a:buFont typeface="Liberation Serif"/>
              <a:buChar char="•"/>
              <a:tabLst>
                <a:tab pos="198120" algn="l"/>
              </a:tabLst>
            </a:pP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Extremely</a:t>
            </a:r>
            <a:r>
              <a:rPr sz="1700" spc="1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low</a:t>
            </a:r>
            <a:r>
              <a:rPr sz="1700" spc="1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power</a:t>
            </a:r>
            <a:r>
              <a:rPr sz="1700" spc="1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consumption</a:t>
            </a:r>
            <a:endParaRPr sz="1700">
              <a:latin typeface="Yrsa"/>
              <a:cs typeface="Yrsa"/>
            </a:endParaRPr>
          </a:p>
          <a:p>
            <a:pPr marL="198120" indent="-185420">
              <a:lnSpc>
                <a:spcPct val="100000"/>
              </a:lnSpc>
              <a:spcBef>
                <a:spcPts val="35"/>
              </a:spcBef>
              <a:buFont typeface="Liberation Serif"/>
              <a:buChar char="•"/>
              <a:tabLst>
                <a:tab pos="198120" algn="l"/>
              </a:tabLst>
            </a:pP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Adaptive</a:t>
            </a:r>
            <a:r>
              <a:rPr sz="170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learning</a:t>
            </a:r>
            <a:r>
              <a:rPr sz="1700" spc="6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capability</a:t>
            </a:r>
            <a:endParaRPr sz="1700">
              <a:latin typeface="Yrsa"/>
              <a:cs typeface="Yrsa"/>
            </a:endParaRPr>
          </a:p>
          <a:p>
            <a:pPr marL="198120" indent="-185420">
              <a:lnSpc>
                <a:spcPct val="100000"/>
              </a:lnSpc>
              <a:spcBef>
                <a:spcPts val="30"/>
              </a:spcBef>
              <a:buFont typeface="Liberation Serif"/>
              <a:buChar char="•"/>
              <a:tabLst>
                <a:tab pos="198120" algn="l"/>
              </a:tabLst>
            </a:pP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Handles</a:t>
            </a:r>
            <a:r>
              <a:rPr sz="170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unstructured</a:t>
            </a:r>
            <a:r>
              <a:rPr sz="170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data</a:t>
            </a:r>
            <a:r>
              <a:rPr sz="170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20" dirty="0">
                <a:solidFill>
                  <a:srgbClr val="746558"/>
                </a:solidFill>
                <a:latin typeface="Yrsa"/>
                <a:cs typeface="Yrsa"/>
              </a:rPr>
              <a:t>well</a:t>
            </a:r>
            <a:endParaRPr sz="1700">
              <a:latin typeface="Yrsa"/>
              <a:cs typeface="Yrs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201659" y="2590666"/>
            <a:ext cx="4227195" cy="4210685"/>
            <a:chOff x="5201659" y="2590666"/>
            <a:chExt cx="4227195" cy="4210685"/>
          </a:xfrm>
        </p:grpSpPr>
        <p:sp>
          <p:nvSpPr>
            <p:cNvPr id="21" name="object 21"/>
            <p:cNvSpPr/>
            <p:nvPr/>
          </p:nvSpPr>
          <p:spPr>
            <a:xfrm>
              <a:off x="5216893" y="2605900"/>
              <a:ext cx="4196715" cy="4180204"/>
            </a:xfrm>
            <a:custGeom>
              <a:avLst/>
              <a:gdLst/>
              <a:ahLst/>
              <a:cxnLst/>
              <a:rect l="l" t="t" r="r" b="b"/>
              <a:pathLst>
                <a:path w="4196715" h="4180204">
                  <a:moveTo>
                    <a:pt x="4162425" y="0"/>
                  </a:moveTo>
                  <a:lnTo>
                    <a:pt x="34036" y="0"/>
                  </a:lnTo>
                  <a:lnTo>
                    <a:pt x="20788" y="2674"/>
                  </a:lnTo>
                  <a:lnTo>
                    <a:pt x="9969" y="9969"/>
                  </a:lnTo>
                  <a:lnTo>
                    <a:pt x="2674" y="20788"/>
                  </a:lnTo>
                  <a:lnTo>
                    <a:pt x="0" y="34036"/>
                  </a:lnTo>
                  <a:lnTo>
                    <a:pt x="0" y="4146041"/>
                  </a:lnTo>
                  <a:lnTo>
                    <a:pt x="2674" y="4159289"/>
                  </a:lnTo>
                  <a:lnTo>
                    <a:pt x="9969" y="4170108"/>
                  </a:lnTo>
                  <a:lnTo>
                    <a:pt x="20788" y="4177403"/>
                  </a:lnTo>
                  <a:lnTo>
                    <a:pt x="34036" y="4180078"/>
                  </a:lnTo>
                  <a:lnTo>
                    <a:pt x="4162425" y="4180078"/>
                  </a:lnTo>
                  <a:lnTo>
                    <a:pt x="4175672" y="4177403"/>
                  </a:lnTo>
                  <a:lnTo>
                    <a:pt x="4186491" y="4170108"/>
                  </a:lnTo>
                  <a:lnTo>
                    <a:pt x="4193786" y="4159289"/>
                  </a:lnTo>
                  <a:lnTo>
                    <a:pt x="4196461" y="4146041"/>
                  </a:lnTo>
                  <a:lnTo>
                    <a:pt x="4196461" y="34036"/>
                  </a:lnTo>
                  <a:lnTo>
                    <a:pt x="4193786" y="20788"/>
                  </a:lnTo>
                  <a:lnTo>
                    <a:pt x="4186491" y="9969"/>
                  </a:lnTo>
                  <a:lnTo>
                    <a:pt x="4175672" y="2674"/>
                  </a:lnTo>
                  <a:lnTo>
                    <a:pt x="4162425" y="0"/>
                  </a:lnTo>
                  <a:close/>
                </a:path>
              </a:pathLst>
            </a:custGeom>
            <a:solidFill>
              <a:srgbClr val="F9F6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216893" y="2605900"/>
              <a:ext cx="4196715" cy="4180204"/>
            </a:xfrm>
            <a:custGeom>
              <a:avLst/>
              <a:gdLst/>
              <a:ahLst/>
              <a:cxnLst/>
              <a:rect l="l" t="t" r="r" b="b"/>
              <a:pathLst>
                <a:path w="4196715" h="4180204">
                  <a:moveTo>
                    <a:pt x="0" y="34036"/>
                  </a:moveTo>
                  <a:lnTo>
                    <a:pt x="2674" y="20788"/>
                  </a:lnTo>
                  <a:lnTo>
                    <a:pt x="9969" y="9969"/>
                  </a:lnTo>
                  <a:lnTo>
                    <a:pt x="20788" y="2674"/>
                  </a:lnTo>
                  <a:lnTo>
                    <a:pt x="34036" y="0"/>
                  </a:lnTo>
                  <a:lnTo>
                    <a:pt x="4162425" y="0"/>
                  </a:lnTo>
                  <a:lnTo>
                    <a:pt x="4175672" y="2674"/>
                  </a:lnTo>
                  <a:lnTo>
                    <a:pt x="4186491" y="9969"/>
                  </a:lnTo>
                  <a:lnTo>
                    <a:pt x="4193786" y="20788"/>
                  </a:lnTo>
                  <a:lnTo>
                    <a:pt x="4196461" y="34036"/>
                  </a:lnTo>
                  <a:lnTo>
                    <a:pt x="4196461" y="4146041"/>
                  </a:lnTo>
                  <a:lnTo>
                    <a:pt x="4193786" y="4159289"/>
                  </a:lnTo>
                  <a:lnTo>
                    <a:pt x="4186491" y="4170108"/>
                  </a:lnTo>
                  <a:lnTo>
                    <a:pt x="4175672" y="4177403"/>
                  </a:lnTo>
                  <a:lnTo>
                    <a:pt x="4162425" y="4180078"/>
                  </a:lnTo>
                  <a:lnTo>
                    <a:pt x="34036" y="4180078"/>
                  </a:lnTo>
                  <a:lnTo>
                    <a:pt x="20788" y="4177403"/>
                  </a:lnTo>
                  <a:lnTo>
                    <a:pt x="9969" y="4170108"/>
                  </a:lnTo>
                  <a:lnTo>
                    <a:pt x="2674" y="4159289"/>
                  </a:lnTo>
                  <a:lnTo>
                    <a:pt x="0" y="4146041"/>
                  </a:lnTo>
                  <a:lnTo>
                    <a:pt x="0" y="34036"/>
                  </a:lnTo>
                  <a:close/>
                </a:path>
              </a:pathLst>
            </a:custGeom>
            <a:ln w="30467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247385" y="2636393"/>
              <a:ext cx="4135754" cy="680720"/>
            </a:xfrm>
            <a:custGeom>
              <a:avLst/>
              <a:gdLst/>
              <a:ahLst/>
              <a:cxnLst/>
              <a:rect l="l" t="t" r="r" b="b"/>
              <a:pathLst>
                <a:path w="4135754" h="680720">
                  <a:moveTo>
                    <a:pt x="4135373" y="0"/>
                  </a:moveTo>
                  <a:lnTo>
                    <a:pt x="0" y="0"/>
                  </a:lnTo>
                  <a:lnTo>
                    <a:pt x="0" y="680465"/>
                  </a:lnTo>
                  <a:lnTo>
                    <a:pt x="4135373" y="680465"/>
                  </a:lnTo>
                  <a:lnTo>
                    <a:pt x="4135373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60882" y="2820441"/>
              <a:ext cx="315277" cy="312115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5465064" y="3525532"/>
            <a:ext cx="2391410" cy="14611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spc="-20" dirty="0">
                <a:solidFill>
                  <a:srgbClr val="746558"/>
                </a:solidFill>
                <a:latin typeface="Georgia Pro SemiBold"/>
                <a:cs typeface="Georgia Pro SemiBold"/>
              </a:rPr>
              <a:t>CPUs</a:t>
            </a:r>
            <a:endParaRPr sz="2150">
              <a:latin typeface="Georgia Pro SemiBold"/>
              <a:cs typeface="Georgia Pro SemiBold"/>
            </a:endParaRPr>
          </a:p>
          <a:p>
            <a:pPr marL="198120" indent="-185420">
              <a:lnSpc>
                <a:spcPct val="100000"/>
              </a:lnSpc>
              <a:spcBef>
                <a:spcPts val="1739"/>
              </a:spcBef>
              <a:buFont typeface="Liberation Serif"/>
              <a:buChar char="•"/>
              <a:tabLst>
                <a:tab pos="198120" algn="l"/>
              </a:tabLst>
            </a:pP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Sequential</a:t>
            </a:r>
            <a:r>
              <a:rPr sz="1700" spc="7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processing</a:t>
            </a:r>
            <a:endParaRPr sz="1700">
              <a:latin typeface="Yrsa"/>
              <a:cs typeface="Yrsa"/>
            </a:endParaRPr>
          </a:p>
          <a:p>
            <a:pPr marL="198120" indent="-185420">
              <a:lnSpc>
                <a:spcPct val="100000"/>
              </a:lnSpc>
              <a:spcBef>
                <a:spcPts val="800"/>
              </a:spcBef>
              <a:buFont typeface="Liberation Serif"/>
              <a:buChar char="•"/>
              <a:tabLst>
                <a:tab pos="198120" algn="l"/>
              </a:tabLst>
            </a:pP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Always-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on</a:t>
            </a:r>
            <a:r>
              <a:rPr sz="1700" spc="8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operation</a:t>
            </a:r>
            <a:endParaRPr sz="1700">
              <a:latin typeface="Yrsa"/>
              <a:cs typeface="Yrsa"/>
            </a:endParaRPr>
          </a:p>
          <a:p>
            <a:pPr marL="198120" indent="-185420">
              <a:lnSpc>
                <a:spcPct val="100000"/>
              </a:lnSpc>
              <a:spcBef>
                <a:spcPts val="30"/>
              </a:spcBef>
              <a:buFont typeface="Liberation Serif"/>
              <a:buChar char="•"/>
              <a:tabLst>
                <a:tab pos="198120" algn="l"/>
              </a:tabLst>
            </a:pP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High</a:t>
            </a:r>
            <a:r>
              <a:rPr sz="1700" spc="3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power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consumption</a:t>
            </a:r>
            <a:endParaRPr sz="1700">
              <a:latin typeface="Yrsa"/>
              <a:cs typeface="Yrs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65064" y="5089853"/>
            <a:ext cx="2799715" cy="751205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10"/>
              </a:spcBef>
              <a:buChar char="•"/>
              <a:tabLst>
                <a:tab pos="355600" algn="l"/>
              </a:tabLst>
            </a:pP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Fixed</a:t>
            </a:r>
            <a:r>
              <a:rPr sz="170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programming</a:t>
            </a:r>
            <a:r>
              <a:rPr sz="170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Best</a:t>
            </a:r>
            <a:r>
              <a:rPr sz="170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25" dirty="0">
                <a:solidFill>
                  <a:srgbClr val="746558"/>
                </a:solidFill>
                <a:latin typeface="Yrsa"/>
                <a:cs typeface="Yrsa"/>
              </a:rPr>
              <a:t>for</a:t>
            </a:r>
            <a:endParaRPr sz="1700">
              <a:latin typeface="Yrsa"/>
              <a:cs typeface="Yrsa"/>
            </a:endParaRPr>
          </a:p>
          <a:p>
            <a:pPr marL="355600" indent="-342900">
              <a:lnSpc>
                <a:spcPct val="100000"/>
              </a:lnSpc>
              <a:spcBef>
                <a:spcPts val="815"/>
              </a:spcBef>
              <a:buChar char="•"/>
              <a:tabLst>
                <a:tab pos="355600" algn="l"/>
              </a:tabLst>
            </a:pP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structured</a:t>
            </a:r>
            <a:r>
              <a:rPr sz="170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tasks</a:t>
            </a:r>
            <a:endParaRPr sz="1700">
              <a:latin typeface="Yrsa"/>
              <a:cs typeface="Yrs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624955" y="2590666"/>
            <a:ext cx="4227195" cy="4210685"/>
            <a:chOff x="9624955" y="2590666"/>
            <a:chExt cx="4227195" cy="4210685"/>
          </a:xfrm>
        </p:grpSpPr>
        <p:sp>
          <p:nvSpPr>
            <p:cNvPr id="28" name="object 28"/>
            <p:cNvSpPr/>
            <p:nvPr/>
          </p:nvSpPr>
          <p:spPr>
            <a:xfrm>
              <a:off x="9640190" y="2605900"/>
              <a:ext cx="4196715" cy="4180204"/>
            </a:xfrm>
            <a:custGeom>
              <a:avLst/>
              <a:gdLst/>
              <a:ahLst/>
              <a:cxnLst/>
              <a:rect l="l" t="t" r="r" b="b"/>
              <a:pathLst>
                <a:path w="4196715" h="4180204">
                  <a:moveTo>
                    <a:pt x="4162298" y="0"/>
                  </a:moveTo>
                  <a:lnTo>
                    <a:pt x="33909" y="0"/>
                  </a:lnTo>
                  <a:lnTo>
                    <a:pt x="20734" y="2674"/>
                  </a:lnTo>
                  <a:lnTo>
                    <a:pt x="9953" y="9969"/>
                  </a:lnTo>
                  <a:lnTo>
                    <a:pt x="2672" y="20788"/>
                  </a:lnTo>
                  <a:lnTo>
                    <a:pt x="0" y="34036"/>
                  </a:lnTo>
                  <a:lnTo>
                    <a:pt x="0" y="4146041"/>
                  </a:lnTo>
                  <a:lnTo>
                    <a:pt x="2672" y="4159289"/>
                  </a:lnTo>
                  <a:lnTo>
                    <a:pt x="9953" y="4170108"/>
                  </a:lnTo>
                  <a:lnTo>
                    <a:pt x="20734" y="4177403"/>
                  </a:lnTo>
                  <a:lnTo>
                    <a:pt x="33909" y="4180078"/>
                  </a:lnTo>
                  <a:lnTo>
                    <a:pt x="4162298" y="4180078"/>
                  </a:lnTo>
                  <a:lnTo>
                    <a:pt x="4175545" y="4177403"/>
                  </a:lnTo>
                  <a:lnTo>
                    <a:pt x="4186364" y="4170108"/>
                  </a:lnTo>
                  <a:lnTo>
                    <a:pt x="4193659" y="4159289"/>
                  </a:lnTo>
                  <a:lnTo>
                    <a:pt x="4196334" y="4146041"/>
                  </a:lnTo>
                  <a:lnTo>
                    <a:pt x="4196334" y="34036"/>
                  </a:lnTo>
                  <a:lnTo>
                    <a:pt x="4193659" y="20788"/>
                  </a:lnTo>
                  <a:lnTo>
                    <a:pt x="4186364" y="9969"/>
                  </a:lnTo>
                  <a:lnTo>
                    <a:pt x="4175545" y="2674"/>
                  </a:lnTo>
                  <a:lnTo>
                    <a:pt x="4162298" y="0"/>
                  </a:lnTo>
                  <a:close/>
                </a:path>
              </a:pathLst>
            </a:custGeom>
            <a:solidFill>
              <a:srgbClr val="F9F6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640188" y="2605900"/>
              <a:ext cx="4196715" cy="4180204"/>
            </a:xfrm>
            <a:custGeom>
              <a:avLst/>
              <a:gdLst/>
              <a:ahLst/>
              <a:cxnLst/>
              <a:rect l="l" t="t" r="r" b="b"/>
              <a:pathLst>
                <a:path w="4196715" h="4180204">
                  <a:moveTo>
                    <a:pt x="0" y="34036"/>
                  </a:moveTo>
                  <a:lnTo>
                    <a:pt x="2672" y="20788"/>
                  </a:lnTo>
                  <a:lnTo>
                    <a:pt x="9953" y="9969"/>
                  </a:lnTo>
                  <a:lnTo>
                    <a:pt x="20734" y="2674"/>
                  </a:lnTo>
                  <a:lnTo>
                    <a:pt x="33909" y="0"/>
                  </a:lnTo>
                  <a:lnTo>
                    <a:pt x="4162298" y="0"/>
                  </a:lnTo>
                  <a:lnTo>
                    <a:pt x="4175545" y="2674"/>
                  </a:lnTo>
                  <a:lnTo>
                    <a:pt x="4186364" y="9969"/>
                  </a:lnTo>
                  <a:lnTo>
                    <a:pt x="4193659" y="20788"/>
                  </a:lnTo>
                  <a:lnTo>
                    <a:pt x="4196334" y="34036"/>
                  </a:lnTo>
                  <a:lnTo>
                    <a:pt x="4196334" y="4146041"/>
                  </a:lnTo>
                  <a:lnTo>
                    <a:pt x="4193659" y="4159289"/>
                  </a:lnTo>
                  <a:lnTo>
                    <a:pt x="4186364" y="4170108"/>
                  </a:lnTo>
                  <a:lnTo>
                    <a:pt x="4175545" y="4177403"/>
                  </a:lnTo>
                  <a:lnTo>
                    <a:pt x="4162298" y="4180078"/>
                  </a:lnTo>
                  <a:lnTo>
                    <a:pt x="33909" y="4180078"/>
                  </a:lnTo>
                  <a:lnTo>
                    <a:pt x="20734" y="4177403"/>
                  </a:lnTo>
                  <a:lnTo>
                    <a:pt x="9953" y="4170108"/>
                  </a:lnTo>
                  <a:lnTo>
                    <a:pt x="2672" y="4159289"/>
                  </a:lnTo>
                  <a:lnTo>
                    <a:pt x="0" y="4146041"/>
                  </a:lnTo>
                  <a:lnTo>
                    <a:pt x="0" y="34036"/>
                  </a:lnTo>
                  <a:close/>
                </a:path>
              </a:pathLst>
            </a:custGeom>
            <a:ln w="30467">
              <a:solidFill>
                <a:srgbClr val="D4CE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670668" y="2636393"/>
              <a:ext cx="4135754" cy="680720"/>
            </a:xfrm>
            <a:custGeom>
              <a:avLst/>
              <a:gdLst/>
              <a:ahLst/>
              <a:cxnLst/>
              <a:rect l="l" t="t" r="r" b="b"/>
              <a:pathLst>
                <a:path w="4135755" h="680720">
                  <a:moveTo>
                    <a:pt x="4135374" y="0"/>
                  </a:moveTo>
                  <a:lnTo>
                    <a:pt x="0" y="0"/>
                  </a:lnTo>
                  <a:lnTo>
                    <a:pt x="0" y="680465"/>
                  </a:lnTo>
                  <a:lnTo>
                    <a:pt x="4135374" y="680465"/>
                  </a:lnTo>
                  <a:lnTo>
                    <a:pt x="4135374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1741873" y="2953956"/>
              <a:ext cx="14604" cy="2540"/>
            </a:xfrm>
            <a:custGeom>
              <a:avLst/>
              <a:gdLst/>
              <a:ahLst/>
              <a:cxnLst/>
              <a:rect l="l" t="t" r="r" b="b"/>
              <a:pathLst>
                <a:path w="14604" h="2539">
                  <a:moveTo>
                    <a:pt x="14350" y="1777"/>
                  </a:moveTo>
                  <a:lnTo>
                    <a:pt x="10286" y="253"/>
                  </a:lnTo>
                  <a:lnTo>
                    <a:pt x="7365" y="0"/>
                  </a:lnTo>
                  <a:lnTo>
                    <a:pt x="4571" y="507"/>
                  </a:lnTo>
                  <a:lnTo>
                    <a:pt x="0" y="2158"/>
                  </a:lnTo>
                </a:path>
              </a:pathLst>
            </a:custGeom>
            <a:ln w="13817">
              <a:solidFill>
                <a:srgbClr val="7465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1741111" y="2956077"/>
              <a:ext cx="17780" cy="15240"/>
            </a:xfrm>
            <a:custGeom>
              <a:avLst/>
              <a:gdLst/>
              <a:ahLst/>
              <a:cxnLst/>
              <a:rect l="l" t="t" r="r" b="b"/>
              <a:pathLst>
                <a:path w="17779" h="15239">
                  <a:moveTo>
                    <a:pt x="17399" y="6350"/>
                  </a:moveTo>
                  <a:lnTo>
                    <a:pt x="8382" y="14859"/>
                  </a:lnTo>
                  <a:lnTo>
                    <a:pt x="6985" y="14859"/>
                  </a:lnTo>
                  <a:lnTo>
                    <a:pt x="0" y="7112"/>
                  </a:lnTo>
                  <a:lnTo>
                    <a:pt x="127" y="3937"/>
                  </a:lnTo>
                  <a:lnTo>
                    <a:pt x="762" y="0"/>
                  </a:lnTo>
                </a:path>
              </a:pathLst>
            </a:custGeom>
            <a:ln w="13817">
              <a:solidFill>
                <a:srgbClr val="7465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574259" y="3078997"/>
              <a:ext cx="48157" cy="5829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577721" y="2806496"/>
              <a:ext cx="137481" cy="12625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859379" y="3089189"/>
              <a:ext cx="45796" cy="4523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857789" y="2812593"/>
              <a:ext cx="47289" cy="54871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1751463" y="2976156"/>
              <a:ext cx="107950" cy="107950"/>
            </a:xfrm>
            <a:custGeom>
              <a:avLst/>
              <a:gdLst/>
              <a:ahLst/>
              <a:cxnLst/>
              <a:rect l="l" t="t" r="r" b="b"/>
              <a:pathLst>
                <a:path w="107950" h="107950">
                  <a:moveTo>
                    <a:pt x="107696" y="53848"/>
                  </a:moveTo>
                  <a:lnTo>
                    <a:pt x="103461" y="74799"/>
                  </a:lnTo>
                  <a:lnTo>
                    <a:pt x="91916" y="91916"/>
                  </a:lnTo>
                  <a:lnTo>
                    <a:pt x="74799" y="103461"/>
                  </a:lnTo>
                  <a:lnTo>
                    <a:pt x="53848" y="107696"/>
                  </a:lnTo>
                  <a:lnTo>
                    <a:pt x="32896" y="103461"/>
                  </a:lnTo>
                  <a:lnTo>
                    <a:pt x="15779" y="91916"/>
                  </a:lnTo>
                  <a:lnTo>
                    <a:pt x="4234" y="74799"/>
                  </a:lnTo>
                  <a:lnTo>
                    <a:pt x="0" y="53848"/>
                  </a:lnTo>
                  <a:lnTo>
                    <a:pt x="4234" y="32896"/>
                  </a:lnTo>
                  <a:lnTo>
                    <a:pt x="15779" y="15779"/>
                  </a:lnTo>
                  <a:lnTo>
                    <a:pt x="32896" y="4234"/>
                  </a:lnTo>
                  <a:lnTo>
                    <a:pt x="53848" y="0"/>
                  </a:lnTo>
                  <a:lnTo>
                    <a:pt x="74799" y="4234"/>
                  </a:lnTo>
                  <a:lnTo>
                    <a:pt x="91916" y="15779"/>
                  </a:lnTo>
                  <a:lnTo>
                    <a:pt x="103461" y="32896"/>
                  </a:lnTo>
                  <a:lnTo>
                    <a:pt x="107696" y="53848"/>
                  </a:lnTo>
                  <a:close/>
                </a:path>
              </a:pathLst>
            </a:custGeom>
            <a:ln w="13817">
              <a:solidFill>
                <a:srgbClr val="7465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1804498" y="3030181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>
                  <a:moveTo>
                    <a:pt x="54609" y="0"/>
                  </a:moveTo>
                  <a:lnTo>
                    <a:pt x="0" y="0"/>
                  </a:lnTo>
                </a:path>
              </a:pathLst>
            </a:custGeom>
            <a:ln w="13817">
              <a:solidFill>
                <a:srgbClr val="7465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1804549" y="2976194"/>
              <a:ext cx="0" cy="53975"/>
            </a:xfrm>
            <a:custGeom>
              <a:avLst/>
              <a:gdLst/>
              <a:ahLst/>
              <a:cxnLst/>
              <a:rect l="l" t="t" r="r" b="b"/>
              <a:pathLst>
                <a:path h="53975">
                  <a:moveTo>
                    <a:pt x="0" y="53975"/>
                  </a:moveTo>
                  <a:lnTo>
                    <a:pt x="0" y="0"/>
                  </a:lnTo>
                </a:path>
              </a:pathLst>
            </a:custGeom>
            <a:ln w="13817">
              <a:solidFill>
                <a:srgbClr val="7465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1756224" y="2955696"/>
              <a:ext cx="2540" cy="6985"/>
            </a:xfrm>
            <a:custGeom>
              <a:avLst/>
              <a:gdLst/>
              <a:ahLst/>
              <a:cxnLst/>
              <a:rect l="l" t="t" r="r" b="b"/>
              <a:pathLst>
                <a:path w="2540" h="6985">
                  <a:moveTo>
                    <a:pt x="2285" y="6730"/>
                  </a:moveTo>
                  <a:lnTo>
                    <a:pt x="0" y="0"/>
                  </a:lnTo>
                </a:path>
              </a:pathLst>
            </a:custGeom>
            <a:ln w="13817">
              <a:solidFill>
                <a:srgbClr val="7465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1691582" y="2907893"/>
              <a:ext cx="18415" cy="13970"/>
            </a:xfrm>
            <a:custGeom>
              <a:avLst/>
              <a:gdLst/>
              <a:ahLst/>
              <a:cxnLst/>
              <a:rect l="l" t="t" r="r" b="b"/>
              <a:pathLst>
                <a:path w="18415" h="13969">
                  <a:moveTo>
                    <a:pt x="16128" y="13588"/>
                  </a:moveTo>
                  <a:lnTo>
                    <a:pt x="18033" y="9016"/>
                  </a:lnTo>
                  <a:lnTo>
                    <a:pt x="16001" y="3809"/>
                  </a:lnTo>
                  <a:lnTo>
                    <a:pt x="11556" y="1904"/>
                  </a:lnTo>
                  <a:lnTo>
                    <a:pt x="7111" y="0"/>
                  </a:lnTo>
                  <a:lnTo>
                    <a:pt x="2031" y="1904"/>
                  </a:lnTo>
                  <a:lnTo>
                    <a:pt x="0" y="6222"/>
                  </a:lnTo>
                </a:path>
              </a:pathLst>
            </a:custGeom>
            <a:ln w="13817">
              <a:solidFill>
                <a:srgbClr val="7465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1691429" y="2914002"/>
              <a:ext cx="635" cy="6985"/>
            </a:xfrm>
            <a:custGeom>
              <a:avLst/>
              <a:gdLst/>
              <a:ahLst/>
              <a:cxnLst/>
              <a:rect l="l" t="t" r="r" b="b"/>
              <a:pathLst>
                <a:path w="634" h="6985">
                  <a:moveTo>
                    <a:pt x="253" y="6985"/>
                  </a:moveTo>
                  <a:lnTo>
                    <a:pt x="0" y="0"/>
                  </a:lnTo>
                </a:path>
              </a:pathLst>
            </a:custGeom>
            <a:ln w="13817">
              <a:solidFill>
                <a:srgbClr val="7465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1823942" y="2875051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17018" y="8509"/>
                  </a:moveTo>
                  <a:lnTo>
                    <a:pt x="17018" y="13208"/>
                  </a:lnTo>
                  <a:lnTo>
                    <a:pt x="13208" y="17018"/>
                  </a:lnTo>
                  <a:lnTo>
                    <a:pt x="8509" y="17018"/>
                  </a:lnTo>
                  <a:lnTo>
                    <a:pt x="3810" y="17018"/>
                  </a:lnTo>
                  <a:lnTo>
                    <a:pt x="0" y="13208"/>
                  </a:lnTo>
                  <a:lnTo>
                    <a:pt x="0" y="8509"/>
                  </a:lnTo>
                  <a:lnTo>
                    <a:pt x="0" y="3810"/>
                  </a:lnTo>
                  <a:lnTo>
                    <a:pt x="3810" y="0"/>
                  </a:lnTo>
                  <a:lnTo>
                    <a:pt x="8509" y="0"/>
                  </a:lnTo>
                  <a:lnTo>
                    <a:pt x="13208" y="0"/>
                  </a:lnTo>
                  <a:lnTo>
                    <a:pt x="17018" y="3810"/>
                  </a:lnTo>
                  <a:lnTo>
                    <a:pt x="17018" y="8509"/>
                  </a:lnTo>
                  <a:close/>
                </a:path>
              </a:pathLst>
            </a:custGeom>
            <a:ln w="13817">
              <a:solidFill>
                <a:srgbClr val="7465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1756237" y="2887878"/>
              <a:ext cx="67945" cy="67945"/>
            </a:xfrm>
            <a:custGeom>
              <a:avLst/>
              <a:gdLst/>
              <a:ahLst/>
              <a:cxnLst/>
              <a:rect l="l" t="t" r="r" b="b"/>
              <a:pathLst>
                <a:path w="67945" h="67944">
                  <a:moveTo>
                    <a:pt x="67818" y="0"/>
                  </a:moveTo>
                  <a:lnTo>
                    <a:pt x="0" y="67818"/>
                  </a:lnTo>
                </a:path>
              </a:pathLst>
            </a:custGeom>
            <a:ln w="13817">
              <a:solidFill>
                <a:srgbClr val="7465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1708904" y="2922447"/>
              <a:ext cx="33020" cy="33655"/>
            </a:xfrm>
            <a:custGeom>
              <a:avLst/>
              <a:gdLst/>
              <a:ahLst/>
              <a:cxnLst/>
              <a:rect l="l" t="t" r="r" b="b"/>
              <a:pathLst>
                <a:path w="33020" h="33655">
                  <a:moveTo>
                    <a:pt x="33020" y="33654"/>
                  </a:moveTo>
                  <a:lnTo>
                    <a:pt x="0" y="0"/>
                  </a:lnTo>
                </a:path>
              </a:pathLst>
            </a:custGeom>
            <a:ln w="13817">
              <a:solidFill>
                <a:srgbClr val="7465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1629187" y="2922384"/>
              <a:ext cx="61594" cy="61594"/>
            </a:xfrm>
            <a:custGeom>
              <a:avLst/>
              <a:gdLst/>
              <a:ahLst/>
              <a:cxnLst/>
              <a:rect l="l" t="t" r="r" b="b"/>
              <a:pathLst>
                <a:path w="61595" h="61594">
                  <a:moveTo>
                    <a:pt x="0" y="61087"/>
                  </a:moveTo>
                  <a:lnTo>
                    <a:pt x="61087" y="0"/>
                  </a:lnTo>
                </a:path>
              </a:pathLst>
            </a:custGeom>
            <a:ln w="13817">
              <a:solidFill>
                <a:srgbClr val="7465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1614987" y="3131108"/>
              <a:ext cx="245745" cy="0"/>
            </a:xfrm>
            <a:custGeom>
              <a:avLst/>
              <a:gdLst/>
              <a:ahLst/>
              <a:cxnLst/>
              <a:rect l="l" t="t" r="r" b="b"/>
              <a:pathLst>
                <a:path w="245745">
                  <a:moveTo>
                    <a:pt x="245364" y="0"/>
                  </a:moveTo>
                  <a:lnTo>
                    <a:pt x="0" y="0"/>
                  </a:lnTo>
                </a:path>
              </a:pathLst>
            </a:custGeom>
            <a:ln w="13817">
              <a:solidFill>
                <a:srgbClr val="7465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1894299" y="2860344"/>
              <a:ext cx="0" cy="242570"/>
            </a:xfrm>
            <a:custGeom>
              <a:avLst/>
              <a:gdLst/>
              <a:ahLst/>
              <a:cxnLst/>
              <a:rect l="l" t="t" r="r" b="b"/>
              <a:pathLst>
                <a:path h="242569">
                  <a:moveTo>
                    <a:pt x="0" y="0"/>
                  </a:moveTo>
                  <a:lnTo>
                    <a:pt x="0" y="242315"/>
                  </a:lnTo>
                </a:path>
              </a:pathLst>
            </a:custGeom>
            <a:ln w="13817">
              <a:solidFill>
                <a:srgbClr val="7465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1582172" y="2849232"/>
              <a:ext cx="0" cy="240029"/>
            </a:xfrm>
            <a:custGeom>
              <a:avLst/>
              <a:gdLst/>
              <a:ahLst/>
              <a:cxnLst/>
              <a:rect l="l" t="t" r="r" b="b"/>
              <a:pathLst>
                <a:path h="240030">
                  <a:moveTo>
                    <a:pt x="0" y="239775"/>
                  </a:moveTo>
                  <a:lnTo>
                    <a:pt x="0" y="0"/>
                  </a:lnTo>
                </a:path>
              </a:pathLst>
            </a:custGeom>
            <a:ln w="13817">
              <a:solidFill>
                <a:srgbClr val="7465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1621007" y="2821889"/>
              <a:ext cx="243204" cy="0"/>
            </a:xfrm>
            <a:custGeom>
              <a:avLst/>
              <a:gdLst/>
              <a:ahLst/>
              <a:cxnLst/>
              <a:rect l="l" t="t" r="r" b="b"/>
              <a:pathLst>
                <a:path w="243204">
                  <a:moveTo>
                    <a:pt x="0" y="0"/>
                  </a:moveTo>
                  <a:lnTo>
                    <a:pt x="242951" y="0"/>
                  </a:lnTo>
                </a:path>
              </a:pathLst>
            </a:custGeom>
            <a:ln w="13817">
              <a:solidFill>
                <a:srgbClr val="7465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9891141" y="3525532"/>
            <a:ext cx="2096770" cy="18903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spc="-20" dirty="0">
                <a:solidFill>
                  <a:srgbClr val="746558"/>
                </a:solidFill>
                <a:latin typeface="Georgia Pro SemiBold"/>
                <a:cs typeface="Georgia Pro SemiBold"/>
              </a:rPr>
              <a:t>GPUs</a:t>
            </a:r>
            <a:endParaRPr sz="2150">
              <a:latin typeface="Georgia Pro SemiBold"/>
              <a:cs typeface="Georgia Pro SemiBold"/>
            </a:endParaRPr>
          </a:p>
          <a:p>
            <a:pPr marL="198120" indent="-185420">
              <a:lnSpc>
                <a:spcPct val="100000"/>
              </a:lnSpc>
              <a:spcBef>
                <a:spcPts val="1739"/>
              </a:spcBef>
              <a:buFont typeface="Liberation Serif"/>
              <a:buChar char="•"/>
              <a:tabLst>
                <a:tab pos="198120" algn="l"/>
              </a:tabLst>
            </a:pP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Parallel</a:t>
            </a:r>
            <a:r>
              <a:rPr sz="1700" spc="4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but</a:t>
            </a:r>
            <a:r>
              <a:rPr sz="1700" spc="4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rigid</a:t>
            </a:r>
            <a:endParaRPr sz="1700">
              <a:latin typeface="Yrsa"/>
              <a:cs typeface="Yrsa"/>
            </a:endParaRPr>
          </a:p>
          <a:p>
            <a:pPr marL="198120" indent="-185420">
              <a:lnSpc>
                <a:spcPct val="100000"/>
              </a:lnSpc>
              <a:spcBef>
                <a:spcPts val="35"/>
              </a:spcBef>
              <a:buFont typeface="Liberation Serif"/>
              <a:buChar char="•"/>
              <a:tabLst>
                <a:tab pos="198120" algn="l"/>
              </a:tabLst>
            </a:pP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High</a:t>
            </a:r>
            <a:r>
              <a:rPr sz="1700" spc="3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power </a:t>
            </a:r>
            <a:r>
              <a:rPr sz="1700" spc="-20" dirty="0">
                <a:solidFill>
                  <a:srgbClr val="746558"/>
                </a:solidFill>
                <a:latin typeface="Yrsa"/>
                <a:cs typeface="Yrsa"/>
              </a:rPr>
              <a:t>draw</a:t>
            </a:r>
            <a:endParaRPr sz="1700">
              <a:latin typeface="Yrsa"/>
              <a:cs typeface="Yrsa"/>
            </a:endParaRPr>
          </a:p>
          <a:p>
            <a:pPr marL="198120" indent="-185420">
              <a:lnSpc>
                <a:spcPct val="100000"/>
              </a:lnSpc>
              <a:spcBef>
                <a:spcPts val="30"/>
              </a:spcBef>
              <a:buFont typeface="Liberation Serif"/>
              <a:buChar char="•"/>
              <a:tabLst>
                <a:tab pos="198120" algn="l"/>
              </a:tabLst>
            </a:pP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Excellent</a:t>
            </a:r>
            <a:r>
              <a:rPr sz="1700" spc="7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for</a:t>
            </a:r>
            <a:r>
              <a:rPr sz="170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graphics</a:t>
            </a:r>
            <a:endParaRPr sz="1700">
              <a:latin typeface="Yrsa"/>
              <a:cs typeface="Yrsa"/>
            </a:endParaRPr>
          </a:p>
          <a:p>
            <a:pPr marL="198120" indent="-185420">
              <a:lnSpc>
                <a:spcPct val="100000"/>
              </a:lnSpc>
              <a:spcBef>
                <a:spcPts val="30"/>
              </a:spcBef>
              <a:buFont typeface="Liberation Serif"/>
              <a:buChar char="•"/>
              <a:tabLst>
                <a:tab pos="198120" algn="l"/>
              </a:tabLst>
            </a:pP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Limited</a:t>
            </a:r>
            <a:r>
              <a:rPr sz="170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adaptability</a:t>
            </a:r>
            <a:endParaRPr sz="1700">
              <a:latin typeface="Yrsa"/>
              <a:cs typeface="Yrsa"/>
            </a:endParaRPr>
          </a:p>
          <a:p>
            <a:pPr marL="198120" indent="-185420">
              <a:lnSpc>
                <a:spcPct val="100000"/>
              </a:lnSpc>
              <a:spcBef>
                <a:spcPts val="35"/>
              </a:spcBef>
              <a:buFont typeface="Liberation Serif"/>
              <a:buChar char="•"/>
              <a:tabLst>
                <a:tab pos="198120" algn="l"/>
              </a:tabLst>
            </a:pP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Requires</a:t>
            </a:r>
            <a:r>
              <a:rPr sz="1700" spc="3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precise</a:t>
            </a:r>
            <a:r>
              <a:rPr sz="1700" spc="3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20" dirty="0">
                <a:solidFill>
                  <a:srgbClr val="746558"/>
                </a:solidFill>
                <a:latin typeface="Yrsa"/>
                <a:cs typeface="Yrsa"/>
              </a:rPr>
              <a:t>data</a:t>
            </a:r>
            <a:endParaRPr sz="1700">
              <a:latin typeface="Yrsa"/>
              <a:cs typeface="Yrs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450" cy="822968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123546" y="695521"/>
            <a:ext cx="5525135" cy="1189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95"/>
              </a:spcBef>
            </a:pPr>
            <a:r>
              <a:rPr sz="3600" dirty="0"/>
              <a:t>Key</a:t>
            </a:r>
            <a:r>
              <a:rPr sz="3600" spc="-65" dirty="0"/>
              <a:t> </a:t>
            </a:r>
            <a:r>
              <a:rPr sz="3600" dirty="0"/>
              <a:t>Technologies</a:t>
            </a:r>
            <a:r>
              <a:rPr sz="3600" spc="-65" dirty="0"/>
              <a:t> </a:t>
            </a:r>
            <a:r>
              <a:rPr sz="3600" spc="-10" dirty="0"/>
              <a:t>Behind </a:t>
            </a:r>
            <a:r>
              <a:rPr sz="3600" dirty="0"/>
              <a:t>Cognitive </a:t>
            </a:r>
            <a:r>
              <a:rPr sz="3600" spc="-10" dirty="0"/>
              <a:t>Silicon</a:t>
            </a:r>
            <a:endParaRPr sz="3600"/>
          </a:p>
        </p:txBody>
      </p:sp>
      <p:grpSp>
        <p:nvGrpSpPr>
          <p:cNvPr id="4" name="object 4"/>
          <p:cNvGrpSpPr/>
          <p:nvPr/>
        </p:nvGrpSpPr>
        <p:grpSpPr>
          <a:xfrm>
            <a:off x="6142056" y="2168709"/>
            <a:ext cx="442595" cy="441959"/>
            <a:chOff x="6142056" y="2168709"/>
            <a:chExt cx="442595" cy="441959"/>
          </a:xfrm>
        </p:grpSpPr>
        <p:sp>
          <p:nvSpPr>
            <p:cNvPr id="5" name="object 5"/>
            <p:cNvSpPr/>
            <p:nvPr/>
          </p:nvSpPr>
          <p:spPr>
            <a:xfrm>
              <a:off x="6477901" y="2244775"/>
              <a:ext cx="33655" cy="45085"/>
            </a:xfrm>
            <a:custGeom>
              <a:avLst/>
              <a:gdLst/>
              <a:ahLst/>
              <a:cxnLst/>
              <a:rect l="l" t="t" r="r" b="b"/>
              <a:pathLst>
                <a:path w="33654" h="45085">
                  <a:moveTo>
                    <a:pt x="0" y="0"/>
                  </a:moveTo>
                  <a:lnTo>
                    <a:pt x="32004" y="21082"/>
                  </a:lnTo>
                  <a:lnTo>
                    <a:pt x="33528" y="35433"/>
                  </a:lnTo>
                  <a:lnTo>
                    <a:pt x="33655" y="44577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65976" y="2504871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45592" y="0"/>
                  </a:moveTo>
                  <a:lnTo>
                    <a:pt x="19684" y="30099"/>
                  </a:lnTo>
                  <a:lnTo>
                    <a:pt x="8508" y="31115"/>
                  </a:lnTo>
                  <a:lnTo>
                    <a:pt x="0" y="31115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16522" y="2500312"/>
              <a:ext cx="37465" cy="36195"/>
            </a:xfrm>
            <a:custGeom>
              <a:avLst/>
              <a:gdLst/>
              <a:ahLst/>
              <a:cxnLst/>
              <a:rect l="l" t="t" r="r" b="b"/>
              <a:pathLst>
                <a:path w="37464" h="36194">
                  <a:moveTo>
                    <a:pt x="37084" y="35813"/>
                  </a:moveTo>
                  <a:lnTo>
                    <a:pt x="1905" y="14604"/>
                  </a:lnTo>
                  <a:lnTo>
                    <a:pt x="381" y="7746"/>
                  </a:lnTo>
                  <a:lnTo>
                    <a:pt x="0" y="0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350914" y="2300681"/>
              <a:ext cx="18415" cy="78105"/>
            </a:xfrm>
            <a:custGeom>
              <a:avLst/>
              <a:gdLst/>
              <a:ahLst/>
              <a:cxnLst/>
              <a:rect l="l" t="t" r="r" b="b"/>
              <a:pathLst>
                <a:path w="18414" h="78105">
                  <a:moveTo>
                    <a:pt x="0" y="77977"/>
                  </a:moveTo>
                  <a:lnTo>
                    <a:pt x="762" y="69214"/>
                  </a:lnTo>
                  <a:lnTo>
                    <a:pt x="2540" y="62356"/>
                  </a:lnTo>
                  <a:lnTo>
                    <a:pt x="4953" y="56895"/>
                  </a:lnTo>
                  <a:lnTo>
                    <a:pt x="10251" y="47503"/>
                  </a:lnTo>
                  <a:lnTo>
                    <a:pt x="13716" y="40719"/>
                  </a:lnTo>
                  <a:lnTo>
                    <a:pt x="18216" y="10999"/>
                  </a:lnTo>
                  <a:lnTo>
                    <a:pt x="18288" y="0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98437" y="2244737"/>
              <a:ext cx="179705" cy="0"/>
            </a:xfrm>
            <a:custGeom>
              <a:avLst/>
              <a:gdLst/>
              <a:ahLst/>
              <a:cxnLst/>
              <a:rect l="l" t="t" r="r" b="b"/>
              <a:pathLst>
                <a:path w="179704">
                  <a:moveTo>
                    <a:pt x="0" y="0"/>
                  </a:moveTo>
                  <a:lnTo>
                    <a:pt x="179451" y="0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432575" y="2178088"/>
              <a:ext cx="635" cy="66675"/>
            </a:xfrm>
            <a:custGeom>
              <a:avLst/>
              <a:gdLst/>
              <a:ahLst/>
              <a:cxnLst/>
              <a:rect l="l" t="t" r="r" b="b"/>
              <a:pathLst>
                <a:path w="635" h="66675">
                  <a:moveTo>
                    <a:pt x="0" y="0"/>
                  </a:moveTo>
                  <a:lnTo>
                    <a:pt x="381" y="66548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64528" y="2179904"/>
              <a:ext cx="635" cy="64769"/>
            </a:xfrm>
            <a:custGeom>
              <a:avLst/>
              <a:gdLst/>
              <a:ahLst/>
              <a:cxnLst/>
              <a:rect l="l" t="t" r="r" b="b"/>
              <a:pathLst>
                <a:path w="635" h="64769">
                  <a:moveTo>
                    <a:pt x="0" y="0"/>
                  </a:moveTo>
                  <a:lnTo>
                    <a:pt x="254" y="64769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94335" y="2179993"/>
              <a:ext cx="635" cy="64769"/>
            </a:xfrm>
            <a:custGeom>
              <a:avLst/>
              <a:gdLst/>
              <a:ahLst/>
              <a:cxnLst/>
              <a:rect l="l" t="t" r="r" b="b"/>
              <a:pathLst>
                <a:path w="635" h="64769">
                  <a:moveTo>
                    <a:pt x="0" y="64770"/>
                  </a:moveTo>
                  <a:lnTo>
                    <a:pt x="381" y="0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51435" y="2320924"/>
              <a:ext cx="64769" cy="635"/>
            </a:xfrm>
            <a:custGeom>
              <a:avLst/>
              <a:gdLst/>
              <a:ahLst/>
              <a:cxnLst/>
              <a:rect l="l" t="t" r="r" b="b"/>
              <a:pathLst>
                <a:path w="64770" h="635">
                  <a:moveTo>
                    <a:pt x="0" y="253"/>
                  </a:moveTo>
                  <a:lnTo>
                    <a:pt x="64769" y="0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52095" y="2390622"/>
              <a:ext cx="64769" cy="0"/>
            </a:xfrm>
            <a:custGeom>
              <a:avLst/>
              <a:gdLst/>
              <a:ahLst/>
              <a:cxnLst/>
              <a:rect l="l" t="t" r="r" b="b"/>
              <a:pathLst>
                <a:path w="64770">
                  <a:moveTo>
                    <a:pt x="0" y="0"/>
                  </a:moveTo>
                  <a:lnTo>
                    <a:pt x="64261" y="0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52870" y="2458008"/>
              <a:ext cx="63500" cy="1270"/>
            </a:xfrm>
            <a:custGeom>
              <a:avLst/>
              <a:gdLst/>
              <a:ahLst/>
              <a:cxnLst/>
              <a:rect l="l" t="t" r="r" b="b"/>
              <a:pathLst>
                <a:path w="63500" h="1269">
                  <a:moveTo>
                    <a:pt x="0" y="762"/>
                  </a:moveTo>
                  <a:lnTo>
                    <a:pt x="63373" y="0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295123" y="2536101"/>
              <a:ext cx="0" cy="64135"/>
            </a:xfrm>
            <a:custGeom>
              <a:avLst/>
              <a:gdLst/>
              <a:ahLst/>
              <a:cxnLst/>
              <a:rect l="l" t="t" r="r" b="b"/>
              <a:pathLst>
                <a:path h="64135">
                  <a:moveTo>
                    <a:pt x="0" y="64008"/>
                  </a:moveTo>
                  <a:lnTo>
                    <a:pt x="0" y="0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363157" y="2536024"/>
              <a:ext cx="635" cy="64769"/>
            </a:xfrm>
            <a:custGeom>
              <a:avLst/>
              <a:gdLst/>
              <a:ahLst/>
              <a:cxnLst/>
              <a:rect l="l" t="t" r="r" b="b"/>
              <a:pathLst>
                <a:path w="635" h="64769">
                  <a:moveTo>
                    <a:pt x="635" y="64642"/>
                  </a:moveTo>
                  <a:lnTo>
                    <a:pt x="0" y="0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32765" y="2536024"/>
              <a:ext cx="635" cy="64769"/>
            </a:xfrm>
            <a:custGeom>
              <a:avLst/>
              <a:gdLst/>
              <a:ahLst/>
              <a:cxnLst/>
              <a:rect l="l" t="t" r="r" b="b"/>
              <a:pathLst>
                <a:path w="635" h="64769">
                  <a:moveTo>
                    <a:pt x="253" y="64642"/>
                  </a:moveTo>
                  <a:lnTo>
                    <a:pt x="0" y="0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511518" y="2458072"/>
              <a:ext cx="63500" cy="635"/>
            </a:xfrm>
            <a:custGeom>
              <a:avLst/>
              <a:gdLst/>
              <a:ahLst/>
              <a:cxnLst/>
              <a:rect l="l" t="t" r="r" b="b"/>
              <a:pathLst>
                <a:path w="63500" h="635">
                  <a:moveTo>
                    <a:pt x="0" y="0"/>
                  </a:moveTo>
                  <a:lnTo>
                    <a:pt x="63500" y="508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511543" y="2390635"/>
              <a:ext cx="62230" cy="0"/>
            </a:xfrm>
            <a:custGeom>
              <a:avLst/>
              <a:gdLst/>
              <a:ahLst/>
              <a:cxnLst/>
              <a:rect l="l" t="t" r="r" b="b"/>
              <a:pathLst>
                <a:path w="62229">
                  <a:moveTo>
                    <a:pt x="0" y="0"/>
                  </a:moveTo>
                  <a:lnTo>
                    <a:pt x="62102" y="0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511518" y="2321178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500" y="0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50952" y="2378595"/>
              <a:ext cx="635" cy="101600"/>
            </a:xfrm>
            <a:custGeom>
              <a:avLst/>
              <a:gdLst/>
              <a:ahLst/>
              <a:cxnLst/>
              <a:rect l="l" t="t" r="r" b="b"/>
              <a:pathLst>
                <a:path w="635" h="101600">
                  <a:moveTo>
                    <a:pt x="253" y="101600"/>
                  </a:moveTo>
                  <a:lnTo>
                    <a:pt x="0" y="0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511543" y="2289390"/>
              <a:ext cx="0" cy="215900"/>
            </a:xfrm>
            <a:custGeom>
              <a:avLst/>
              <a:gdLst/>
              <a:ahLst/>
              <a:cxnLst/>
              <a:rect l="l" t="t" r="r" b="b"/>
              <a:pathLst>
                <a:path h="215900">
                  <a:moveTo>
                    <a:pt x="0" y="0"/>
                  </a:moveTo>
                  <a:lnTo>
                    <a:pt x="0" y="215519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53632" y="2536012"/>
              <a:ext cx="212725" cy="635"/>
            </a:xfrm>
            <a:custGeom>
              <a:avLst/>
              <a:gdLst/>
              <a:ahLst/>
              <a:cxnLst/>
              <a:rect l="l" t="t" r="r" b="b"/>
              <a:pathLst>
                <a:path w="212725" h="635">
                  <a:moveTo>
                    <a:pt x="212343" y="0"/>
                  </a:moveTo>
                  <a:lnTo>
                    <a:pt x="0" y="127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16548" y="2275497"/>
              <a:ext cx="0" cy="224790"/>
            </a:xfrm>
            <a:custGeom>
              <a:avLst/>
              <a:gdLst/>
              <a:ahLst/>
              <a:cxnLst/>
              <a:rect l="l" t="t" r="r" b="b"/>
              <a:pathLst>
                <a:path h="224789">
                  <a:moveTo>
                    <a:pt x="0" y="224789"/>
                  </a:moveTo>
                  <a:lnTo>
                    <a:pt x="0" y="0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216357" y="2244509"/>
              <a:ext cx="38735" cy="31115"/>
            </a:xfrm>
            <a:custGeom>
              <a:avLst/>
              <a:gdLst/>
              <a:ahLst/>
              <a:cxnLst/>
              <a:rect l="l" t="t" r="r" b="b"/>
              <a:pathLst>
                <a:path w="38735" h="31114">
                  <a:moveTo>
                    <a:pt x="0" y="30987"/>
                  </a:moveTo>
                  <a:lnTo>
                    <a:pt x="2524" y="18913"/>
                  </a:lnTo>
                  <a:lnTo>
                    <a:pt x="9239" y="9064"/>
                  </a:lnTo>
                  <a:lnTo>
                    <a:pt x="19145" y="2430"/>
                  </a:lnTo>
                  <a:lnTo>
                    <a:pt x="31242" y="0"/>
                  </a:lnTo>
                  <a:lnTo>
                    <a:pt x="33655" y="0"/>
                  </a:lnTo>
                  <a:lnTo>
                    <a:pt x="36068" y="380"/>
                  </a:lnTo>
                  <a:lnTo>
                    <a:pt x="38481" y="888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254940" y="2244750"/>
              <a:ext cx="43815" cy="0"/>
            </a:xfrm>
            <a:custGeom>
              <a:avLst/>
              <a:gdLst/>
              <a:ahLst/>
              <a:cxnLst/>
              <a:rect l="l" t="t" r="r" b="b"/>
              <a:pathLst>
                <a:path w="43814">
                  <a:moveTo>
                    <a:pt x="0" y="0"/>
                  </a:moveTo>
                  <a:lnTo>
                    <a:pt x="43434" y="0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123545" y="2787345"/>
            <a:ext cx="7219315" cy="919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746558"/>
                </a:solidFill>
                <a:latin typeface="Georgia Pro SemiBold"/>
                <a:cs typeface="Georgia Pro SemiBold"/>
              </a:rPr>
              <a:t>Neuromorphic Computing</a:t>
            </a:r>
            <a:endParaRPr sz="1800">
              <a:latin typeface="Georgia Pro SemiBold"/>
              <a:cs typeface="Georgia Pro SemiBold"/>
            </a:endParaRPr>
          </a:p>
          <a:p>
            <a:pPr marL="12700" marR="5080">
              <a:lnSpc>
                <a:spcPct val="125000"/>
              </a:lnSpc>
              <a:spcBef>
                <a:spcPts val="670"/>
              </a:spcBef>
            </a:pPr>
            <a:r>
              <a:rPr sz="1400" dirty="0">
                <a:solidFill>
                  <a:srgbClr val="746558"/>
                </a:solidFill>
                <a:latin typeface="Yrsa"/>
                <a:cs typeface="Yrsa"/>
              </a:rPr>
              <a:t>Hardware</a:t>
            </a:r>
            <a:r>
              <a:rPr sz="140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400" dirty="0">
                <a:solidFill>
                  <a:srgbClr val="746558"/>
                </a:solidFill>
                <a:latin typeface="Yrsa"/>
                <a:cs typeface="Yrsa"/>
              </a:rPr>
              <a:t>architecture</a:t>
            </a:r>
            <a:r>
              <a:rPr sz="140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400" dirty="0">
                <a:solidFill>
                  <a:srgbClr val="746558"/>
                </a:solidFill>
                <a:latin typeface="Yrsa"/>
                <a:cs typeface="Yrsa"/>
              </a:rPr>
              <a:t>designed</a:t>
            </a:r>
            <a:r>
              <a:rPr sz="140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400" dirty="0">
                <a:solidFill>
                  <a:srgbClr val="746558"/>
                </a:solidFill>
                <a:latin typeface="Yrsa"/>
                <a:cs typeface="Yrsa"/>
              </a:rPr>
              <a:t>to</a:t>
            </a:r>
            <a:r>
              <a:rPr sz="140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400" dirty="0">
                <a:solidFill>
                  <a:srgbClr val="746558"/>
                </a:solidFill>
                <a:latin typeface="Yrsa"/>
                <a:cs typeface="Yrsa"/>
              </a:rPr>
              <a:t>mimic</a:t>
            </a:r>
            <a:r>
              <a:rPr sz="140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400" dirty="0">
                <a:solidFill>
                  <a:srgbClr val="746558"/>
                </a:solidFill>
                <a:latin typeface="Yrsa"/>
                <a:cs typeface="Yrsa"/>
              </a:rPr>
              <a:t>the</a:t>
            </a:r>
            <a:r>
              <a:rPr sz="140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400" dirty="0">
                <a:solidFill>
                  <a:srgbClr val="746558"/>
                </a:solidFill>
                <a:latin typeface="Yrsa"/>
                <a:cs typeface="Yrsa"/>
              </a:rPr>
              <a:t>brain's</a:t>
            </a:r>
            <a:r>
              <a:rPr sz="140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400" dirty="0">
                <a:solidFill>
                  <a:srgbClr val="746558"/>
                </a:solidFill>
                <a:latin typeface="Yrsa"/>
                <a:cs typeface="Yrsa"/>
              </a:rPr>
              <a:t>structure,</a:t>
            </a:r>
            <a:r>
              <a:rPr sz="140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400" dirty="0">
                <a:solidFill>
                  <a:srgbClr val="746558"/>
                </a:solidFill>
                <a:latin typeface="Yrsa"/>
                <a:cs typeface="Yrsa"/>
              </a:rPr>
              <a:t>with</a:t>
            </a:r>
            <a:r>
              <a:rPr sz="140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400" dirty="0">
                <a:solidFill>
                  <a:srgbClr val="746558"/>
                </a:solidFill>
                <a:latin typeface="Yrsa"/>
                <a:cs typeface="Yrsa"/>
              </a:rPr>
              <a:t>interconnected</a:t>
            </a:r>
            <a:r>
              <a:rPr sz="140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400" dirty="0">
                <a:solidFill>
                  <a:srgbClr val="746558"/>
                </a:solidFill>
                <a:latin typeface="Yrsa"/>
                <a:cs typeface="Yrsa"/>
              </a:rPr>
              <a:t>processing</a:t>
            </a:r>
            <a:r>
              <a:rPr sz="140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400" spc="-10" dirty="0">
                <a:solidFill>
                  <a:srgbClr val="746558"/>
                </a:solidFill>
                <a:latin typeface="Yrsa"/>
                <a:cs typeface="Yrsa"/>
              </a:rPr>
              <a:t>units </a:t>
            </a:r>
            <a:r>
              <a:rPr sz="1400" dirty="0">
                <a:solidFill>
                  <a:srgbClr val="746558"/>
                </a:solidFill>
                <a:latin typeface="Yrsa"/>
                <a:cs typeface="Yrsa"/>
              </a:rPr>
              <a:t>working</a:t>
            </a:r>
            <a:r>
              <a:rPr sz="1400" spc="4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400" spc="-10" dirty="0">
                <a:solidFill>
                  <a:srgbClr val="746558"/>
                </a:solidFill>
                <a:latin typeface="Yrsa"/>
                <a:cs typeface="Yrsa"/>
              </a:rPr>
              <a:t>simultaneously</a:t>
            </a:r>
            <a:endParaRPr sz="1400">
              <a:latin typeface="Yrsa"/>
              <a:cs typeface="Yrs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197149" y="4028623"/>
            <a:ext cx="332740" cy="443230"/>
            <a:chOff x="6197149" y="4028623"/>
            <a:chExt cx="332740" cy="443230"/>
          </a:xfrm>
        </p:grpSpPr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51656" y="4031677"/>
              <a:ext cx="30558" cy="91302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206985" y="4082351"/>
              <a:ext cx="65405" cy="31750"/>
            </a:xfrm>
            <a:custGeom>
              <a:avLst/>
              <a:gdLst/>
              <a:ahLst/>
              <a:cxnLst/>
              <a:rect l="l" t="t" r="r" b="b"/>
              <a:pathLst>
                <a:path w="65404" h="31750">
                  <a:moveTo>
                    <a:pt x="0" y="0"/>
                  </a:moveTo>
                  <a:lnTo>
                    <a:pt x="17363" y="6796"/>
                  </a:lnTo>
                  <a:lnTo>
                    <a:pt x="32035" y="12938"/>
                  </a:lnTo>
                  <a:lnTo>
                    <a:pt x="44184" y="18484"/>
                  </a:lnTo>
                  <a:lnTo>
                    <a:pt x="53975" y="23495"/>
                  </a:lnTo>
                  <a:lnTo>
                    <a:pt x="65151" y="31496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232233" y="4236377"/>
              <a:ext cx="40640" cy="21590"/>
            </a:xfrm>
            <a:custGeom>
              <a:avLst/>
              <a:gdLst/>
              <a:ahLst/>
              <a:cxnLst/>
              <a:rect l="l" t="t" r="r" b="b"/>
              <a:pathLst>
                <a:path w="40639" h="21589">
                  <a:moveTo>
                    <a:pt x="0" y="21462"/>
                  </a:moveTo>
                  <a:lnTo>
                    <a:pt x="8665" y="17756"/>
                  </a:lnTo>
                  <a:lnTo>
                    <a:pt x="16081" y="14287"/>
                  </a:lnTo>
                  <a:lnTo>
                    <a:pt x="22377" y="11104"/>
                  </a:lnTo>
                  <a:lnTo>
                    <a:pt x="27686" y="8254"/>
                  </a:lnTo>
                  <a:lnTo>
                    <a:pt x="40259" y="0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262179" y="4237227"/>
              <a:ext cx="10160" cy="69215"/>
            </a:xfrm>
            <a:custGeom>
              <a:avLst/>
              <a:gdLst/>
              <a:ahLst/>
              <a:cxnLst/>
              <a:rect l="l" t="t" r="r" b="b"/>
              <a:pathLst>
                <a:path w="10160" h="69214">
                  <a:moveTo>
                    <a:pt x="0" y="69214"/>
                  </a:moveTo>
                  <a:lnTo>
                    <a:pt x="7665" y="29245"/>
                  </a:lnTo>
                  <a:lnTo>
                    <a:pt x="7874" y="13715"/>
                  </a:lnTo>
                  <a:lnTo>
                    <a:pt x="10160" y="0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79836" y="4335402"/>
              <a:ext cx="92654" cy="13639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49584" y="4335402"/>
              <a:ext cx="98459" cy="13639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455486" y="4236770"/>
              <a:ext cx="10795" cy="70485"/>
            </a:xfrm>
            <a:custGeom>
              <a:avLst/>
              <a:gdLst/>
              <a:ahLst/>
              <a:cxnLst/>
              <a:rect l="l" t="t" r="r" b="b"/>
              <a:pathLst>
                <a:path w="10795" h="70485">
                  <a:moveTo>
                    <a:pt x="0" y="0"/>
                  </a:moveTo>
                  <a:lnTo>
                    <a:pt x="1426" y="12584"/>
                  </a:lnTo>
                  <a:lnTo>
                    <a:pt x="2270" y="26384"/>
                  </a:lnTo>
                  <a:lnTo>
                    <a:pt x="2803" y="38897"/>
                  </a:lnTo>
                  <a:lnTo>
                    <a:pt x="3302" y="47625"/>
                  </a:lnTo>
                  <a:lnTo>
                    <a:pt x="4445" y="53213"/>
                  </a:lnTo>
                  <a:lnTo>
                    <a:pt x="5969" y="58801"/>
                  </a:lnTo>
                  <a:lnTo>
                    <a:pt x="10795" y="70485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45164" y="4028623"/>
              <a:ext cx="33926" cy="94177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301359" y="4112298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5" h="125095">
                  <a:moveTo>
                    <a:pt x="125095" y="62484"/>
                  </a:moveTo>
                  <a:lnTo>
                    <a:pt x="120189" y="86820"/>
                  </a:lnTo>
                  <a:lnTo>
                    <a:pt x="106807" y="106680"/>
                  </a:lnTo>
                  <a:lnTo>
                    <a:pt x="86947" y="120062"/>
                  </a:lnTo>
                  <a:lnTo>
                    <a:pt x="62611" y="124968"/>
                  </a:lnTo>
                  <a:lnTo>
                    <a:pt x="38254" y="120062"/>
                  </a:lnTo>
                  <a:lnTo>
                    <a:pt x="18351" y="106680"/>
                  </a:lnTo>
                  <a:lnTo>
                    <a:pt x="4925" y="86820"/>
                  </a:lnTo>
                  <a:lnTo>
                    <a:pt x="0" y="62484"/>
                  </a:lnTo>
                  <a:lnTo>
                    <a:pt x="4925" y="38147"/>
                  </a:lnTo>
                  <a:lnTo>
                    <a:pt x="18351" y="18288"/>
                  </a:lnTo>
                  <a:lnTo>
                    <a:pt x="38254" y="4905"/>
                  </a:lnTo>
                  <a:lnTo>
                    <a:pt x="62611" y="0"/>
                  </a:lnTo>
                  <a:lnTo>
                    <a:pt x="86947" y="4905"/>
                  </a:lnTo>
                  <a:lnTo>
                    <a:pt x="106807" y="18288"/>
                  </a:lnTo>
                  <a:lnTo>
                    <a:pt x="120189" y="38147"/>
                  </a:lnTo>
                  <a:lnTo>
                    <a:pt x="125095" y="62484"/>
                  </a:lnTo>
                  <a:close/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275133" y="4116184"/>
              <a:ext cx="38735" cy="22225"/>
            </a:xfrm>
            <a:custGeom>
              <a:avLst/>
              <a:gdLst/>
              <a:ahLst/>
              <a:cxnLst/>
              <a:rect l="l" t="t" r="r" b="b"/>
              <a:pathLst>
                <a:path w="38735" h="22225">
                  <a:moveTo>
                    <a:pt x="38480" y="21844"/>
                  </a:moveTo>
                  <a:lnTo>
                    <a:pt x="27628" y="18716"/>
                  </a:lnTo>
                  <a:lnTo>
                    <a:pt x="17478" y="13970"/>
                  </a:lnTo>
                  <a:lnTo>
                    <a:pt x="8209" y="7699"/>
                  </a:lnTo>
                  <a:lnTo>
                    <a:pt x="0" y="0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273736" y="4212183"/>
              <a:ext cx="40640" cy="23495"/>
            </a:xfrm>
            <a:custGeom>
              <a:avLst/>
              <a:gdLst/>
              <a:ahLst/>
              <a:cxnLst/>
              <a:rect l="l" t="t" r="r" b="b"/>
              <a:pathLst>
                <a:path w="40639" h="23495">
                  <a:moveTo>
                    <a:pt x="40132" y="0"/>
                  </a:moveTo>
                  <a:lnTo>
                    <a:pt x="28485" y="2831"/>
                  </a:lnTo>
                  <a:lnTo>
                    <a:pt x="17732" y="7794"/>
                  </a:lnTo>
                  <a:lnTo>
                    <a:pt x="8145" y="14733"/>
                  </a:lnTo>
                  <a:lnTo>
                    <a:pt x="0" y="23495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359588" y="4237380"/>
              <a:ext cx="4445" cy="111760"/>
            </a:xfrm>
            <a:custGeom>
              <a:avLst/>
              <a:gdLst/>
              <a:ahLst/>
              <a:cxnLst/>
              <a:rect l="l" t="t" r="r" b="b"/>
              <a:pathLst>
                <a:path w="4445" h="111760">
                  <a:moveTo>
                    <a:pt x="4317" y="0"/>
                  </a:moveTo>
                  <a:lnTo>
                    <a:pt x="0" y="111632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206528" y="4257852"/>
              <a:ext cx="26034" cy="8890"/>
            </a:xfrm>
            <a:custGeom>
              <a:avLst/>
              <a:gdLst/>
              <a:ahLst/>
              <a:cxnLst/>
              <a:rect l="l" t="t" r="r" b="b"/>
              <a:pathLst>
                <a:path w="26035" h="8889">
                  <a:moveTo>
                    <a:pt x="0" y="8889"/>
                  </a:moveTo>
                  <a:lnTo>
                    <a:pt x="25654" y="0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414389" y="4211701"/>
              <a:ext cx="41275" cy="25400"/>
            </a:xfrm>
            <a:custGeom>
              <a:avLst/>
              <a:gdLst/>
              <a:ahLst/>
              <a:cxnLst/>
              <a:rect l="l" t="t" r="r" b="b"/>
              <a:pathLst>
                <a:path w="41275" h="25400">
                  <a:moveTo>
                    <a:pt x="41021" y="25146"/>
                  </a:moveTo>
                  <a:lnTo>
                    <a:pt x="32557" y="16144"/>
                  </a:lnTo>
                  <a:lnTo>
                    <a:pt x="22748" y="8858"/>
                  </a:lnTo>
                  <a:lnTo>
                    <a:pt x="11820" y="3429"/>
                  </a:lnTo>
                  <a:lnTo>
                    <a:pt x="0" y="0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455551" y="4236720"/>
              <a:ext cx="64135" cy="29209"/>
            </a:xfrm>
            <a:custGeom>
              <a:avLst/>
              <a:gdLst/>
              <a:ahLst/>
              <a:cxnLst/>
              <a:rect l="l" t="t" r="r" b="b"/>
              <a:pathLst>
                <a:path w="64134" h="29210">
                  <a:moveTo>
                    <a:pt x="64135" y="29210"/>
                  </a:moveTo>
                  <a:lnTo>
                    <a:pt x="0" y="0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413982" y="4115117"/>
              <a:ext cx="39370" cy="22860"/>
            </a:xfrm>
            <a:custGeom>
              <a:avLst/>
              <a:gdLst/>
              <a:ahLst/>
              <a:cxnLst/>
              <a:rect l="l" t="t" r="r" b="b"/>
              <a:pathLst>
                <a:path w="39370" h="22860">
                  <a:moveTo>
                    <a:pt x="38862" y="0"/>
                  </a:moveTo>
                  <a:lnTo>
                    <a:pt x="30807" y="8189"/>
                  </a:lnTo>
                  <a:lnTo>
                    <a:pt x="21478" y="14747"/>
                  </a:lnTo>
                  <a:lnTo>
                    <a:pt x="11126" y="19520"/>
                  </a:lnTo>
                  <a:lnTo>
                    <a:pt x="0" y="22352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454749" y="4082567"/>
              <a:ext cx="65405" cy="31750"/>
            </a:xfrm>
            <a:custGeom>
              <a:avLst/>
              <a:gdLst/>
              <a:ahLst/>
              <a:cxnLst/>
              <a:rect l="l" t="t" r="r" b="b"/>
              <a:pathLst>
                <a:path w="65404" h="31750">
                  <a:moveTo>
                    <a:pt x="0" y="31241"/>
                  </a:moveTo>
                  <a:lnTo>
                    <a:pt x="65151" y="0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6123546" y="4654245"/>
            <a:ext cx="6336030" cy="917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746558"/>
                </a:solidFill>
                <a:latin typeface="Georgia Pro SemiBold"/>
                <a:cs typeface="Georgia Pro SemiBold"/>
              </a:rPr>
              <a:t>Artificial</a:t>
            </a:r>
            <a:r>
              <a:rPr sz="1800" b="1" spc="-55" dirty="0">
                <a:solidFill>
                  <a:srgbClr val="746558"/>
                </a:solidFill>
                <a:latin typeface="Georgia Pro SemiBold"/>
                <a:cs typeface="Georgia Pro SemiBold"/>
              </a:rPr>
              <a:t> </a:t>
            </a:r>
            <a:r>
              <a:rPr sz="1800" b="1" spc="-10" dirty="0">
                <a:solidFill>
                  <a:srgbClr val="746558"/>
                </a:solidFill>
                <a:latin typeface="Georgia Pro SemiBold"/>
                <a:cs typeface="Georgia Pro SemiBold"/>
              </a:rPr>
              <a:t>Neurons</a:t>
            </a:r>
            <a:endParaRPr sz="1800">
              <a:latin typeface="Georgia Pro SemiBold"/>
              <a:cs typeface="Georgia Pro SemiBold"/>
            </a:endParaRPr>
          </a:p>
          <a:p>
            <a:pPr marL="12700" marR="5080">
              <a:lnSpc>
                <a:spcPct val="124900"/>
              </a:lnSpc>
              <a:spcBef>
                <a:spcPts val="660"/>
              </a:spcBef>
            </a:pPr>
            <a:r>
              <a:rPr sz="1400" dirty="0">
                <a:solidFill>
                  <a:srgbClr val="746558"/>
                </a:solidFill>
                <a:latin typeface="Yrsa"/>
                <a:cs typeface="Yrsa"/>
              </a:rPr>
              <a:t>Electronic</a:t>
            </a:r>
            <a:r>
              <a:rPr sz="140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400" dirty="0">
                <a:solidFill>
                  <a:srgbClr val="746558"/>
                </a:solidFill>
                <a:latin typeface="Yrsa"/>
                <a:cs typeface="Yrsa"/>
              </a:rPr>
              <a:t>circuits</a:t>
            </a:r>
            <a:r>
              <a:rPr sz="140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400" dirty="0">
                <a:solidFill>
                  <a:srgbClr val="746558"/>
                </a:solidFill>
                <a:latin typeface="Yrsa"/>
                <a:cs typeface="Yrsa"/>
              </a:rPr>
              <a:t>that</a:t>
            </a:r>
            <a:r>
              <a:rPr sz="140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400" dirty="0">
                <a:solidFill>
                  <a:srgbClr val="746558"/>
                </a:solidFill>
                <a:latin typeface="Yrsa"/>
                <a:cs typeface="Yrsa"/>
              </a:rPr>
              <a:t>simulate</a:t>
            </a:r>
            <a:r>
              <a:rPr sz="140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400" dirty="0">
                <a:solidFill>
                  <a:srgbClr val="746558"/>
                </a:solidFill>
                <a:latin typeface="Yrsa"/>
                <a:cs typeface="Yrsa"/>
              </a:rPr>
              <a:t>biological</a:t>
            </a:r>
            <a:r>
              <a:rPr sz="140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400" dirty="0">
                <a:solidFill>
                  <a:srgbClr val="746558"/>
                </a:solidFill>
                <a:latin typeface="Yrsa"/>
                <a:cs typeface="Yrsa"/>
              </a:rPr>
              <a:t>neurons,</a:t>
            </a:r>
            <a:r>
              <a:rPr sz="140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400" dirty="0">
                <a:solidFill>
                  <a:srgbClr val="746558"/>
                </a:solidFill>
                <a:latin typeface="Yrsa"/>
                <a:cs typeface="Yrsa"/>
              </a:rPr>
              <a:t>capable</a:t>
            </a:r>
            <a:r>
              <a:rPr sz="140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400" dirty="0">
                <a:solidFill>
                  <a:srgbClr val="746558"/>
                </a:solidFill>
                <a:latin typeface="Yrsa"/>
                <a:cs typeface="Yrsa"/>
              </a:rPr>
              <a:t>of</a:t>
            </a:r>
            <a:r>
              <a:rPr sz="140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400" dirty="0">
                <a:solidFill>
                  <a:srgbClr val="746558"/>
                </a:solidFill>
                <a:latin typeface="Yrsa"/>
                <a:cs typeface="Yrsa"/>
              </a:rPr>
              <a:t>receiving,</a:t>
            </a:r>
            <a:r>
              <a:rPr sz="140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400" dirty="0">
                <a:solidFill>
                  <a:srgbClr val="746558"/>
                </a:solidFill>
                <a:latin typeface="Yrsa"/>
                <a:cs typeface="Yrsa"/>
              </a:rPr>
              <a:t>processing,</a:t>
            </a:r>
            <a:r>
              <a:rPr sz="140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400" spc="-25" dirty="0">
                <a:solidFill>
                  <a:srgbClr val="746558"/>
                </a:solidFill>
                <a:latin typeface="Yrsa"/>
                <a:cs typeface="Yrsa"/>
              </a:rPr>
              <a:t>and </a:t>
            </a:r>
            <a:r>
              <a:rPr sz="1400" dirty="0">
                <a:solidFill>
                  <a:srgbClr val="746558"/>
                </a:solidFill>
                <a:latin typeface="Yrsa"/>
                <a:cs typeface="Yrsa"/>
              </a:rPr>
              <a:t>transmitting</a:t>
            </a:r>
            <a:r>
              <a:rPr sz="140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400" spc="-10" dirty="0">
                <a:solidFill>
                  <a:srgbClr val="746558"/>
                </a:solidFill>
                <a:latin typeface="Yrsa"/>
                <a:cs typeface="Yrsa"/>
              </a:rPr>
              <a:t>signals</a:t>
            </a:r>
            <a:endParaRPr sz="1400">
              <a:latin typeface="Yrsa"/>
              <a:cs typeface="Yrs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6222396" y="5896057"/>
            <a:ext cx="281940" cy="442595"/>
            <a:chOff x="6222396" y="5896057"/>
            <a:chExt cx="281940" cy="442595"/>
          </a:xfrm>
        </p:grpSpPr>
        <p:sp>
          <p:nvSpPr>
            <p:cNvPr id="49" name="object 49"/>
            <p:cNvSpPr/>
            <p:nvPr/>
          </p:nvSpPr>
          <p:spPr>
            <a:xfrm>
              <a:off x="6471526" y="6082830"/>
              <a:ext cx="23495" cy="40640"/>
            </a:xfrm>
            <a:custGeom>
              <a:avLst/>
              <a:gdLst/>
              <a:ahLst/>
              <a:cxnLst/>
              <a:rect l="l" t="t" r="r" b="b"/>
              <a:pathLst>
                <a:path w="23495" h="40639">
                  <a:moveTo>
                    <a:pt x="0" y="40132"/>
                  </a:moveTo>
                  <a:lnTo>
                    <a:pt x="8110" y="29797"/>
                  </a:lnTo>
                  <a:lnTo>
                    <a:pt x="14017" y="21844"/>
                  </a:lnTo>
                  <a:lnTo>
                    <a:pt x="18091" y="15700"/>
                  </a:lnTo>
                  <a:lnTo>
                    <a:pt x="20701" y="10795"/>
                  </a:lnTo>
                  <a:lnTo>
                    <a:pt x="23113" y="0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85481" y="6216508"/>
              <a:ext cx="72130" cy="121999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6328765" y="6153467"/>
              <a:ext cx="6985" cy="24130"/>
            </a:xfrm>
            <a:custGeom>
              <a:avLst/>
              <a:gdLst/>
              <a:ahLst/>
              <a:cxnLst/>
              <a:rect l="l" t="t" r="r" b="b"/>
              <a:pathLst>
                <a:path w="6985" h="24129">
                  <a:moveTo>
                    <a:pt x="4699" y="23749"/>
                  </a:moveTo>
                  <a:lnTo>
                    <a:pt x="6477" y="15875"/>
                  </a:lnTo>
                  <a:lnTo>
                    <a:pt x="6604" y="11684"/>
                  </a:lnTo>
                  <a:lnTo>
                    <a:pt x="6223" y="9525"/>
                  </a:lnTo>
                  <a:lnTo>
                    <a:pt x="4953" y="6731"/>
                  </a:lnTo>
                  <a:lnTo>
                    <a:pt x="2921" y="3556"/>
                  </a:lnTo>
                  <a:lnTo>
                    <a:pt x="0" y="0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231775" y="6148082"/>
              <a:ext cx="97155" cy="5715"/>
            </a:xfrm>
            <a:custGeom>
              <a:avLst/>
              <a:gdLst/>
              <a:ahLst/>
              <a:cxnLst/>
              <a:rect l="l" t="t" r="r" b="b"/>
              <a:pathLst>
                <a:path w="97154" h="5714">
                  <a:moveTo>
                    <a:pt x="97027" y="5333"/>
                  </a:moveTo>
                  <a:lnTo>
                    <a:pt x="80986" y="5079"/>
                  </a:lnTo>
                  <a:lnTo>
                    <a:pt x="54324" y="4825"/>
                  </a:lnTo>
                  <a:lnTo>
                    <a:pt x="28376" y="4476"/>
                  </a:lnTo>
                  <a:lnTo>
                    <a:pt x="14477" y="3936"/>
                  </a:lnTo>
                  <a:lnTo>
                    <a:pt x="0" y="0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377838" y="5905436"/>
              <a:ext cx="46355" cy="57150"/>
            </a:xfrm>
            <a:custGeom>
              <a:avLst/>
              <a:gdLst/>
              <a:ahLst/>
              <a:cxnLst/>
              <a:rect l="l" t="t" r="r" b="b"/>
              <a:pathLst>
                <a:path w="46354" h="57150">
                  <a:moveTo>
                    <a:pt x="46100" y="0"/>
                  </a:moveTo>
                  <a:lnTo>
                    <a:pt x="0" y="56769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231813" y="6113424"/>
              <a:ext cx="22860" cy="34925"/>
            </a:xfrm>
            <a:custGeom>
              <a:avLst/>
              <a:gdLst/>
              <a:ahLst/>
              <a:cxnLst/>
              <a:rect l="l" t="t" r="r" b="b"/>
              <a:pathLst>
                <a:path w="22860" h="34925">
                  <a:moveTo>
                    <a:pt x="22860" y="0"/>
                  </a:moveTo>
                  <a:lnTo>
                    <a:pt x="16502" y="8667"/>
                  </a:lnTo>
                  <a:lnTo>
                    <a:pt x="10572" y="17335"/>
                  </a:lnTo>
                  <a:lnTo>
                    <a:pt x="5072" y="26003"/>
                  </a:lnTo>
                  <a:lnTo>
                    <a:pt x="0" y="34671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394805" y="6052921"/>
              <a:ext cx="24765" cy="26034"/>
            </a:xfrm>
            <a:custGeom>
              <a:avLst/>
              <a:gdLst/>
              <a:ahLst/>
              <a:cxnLst/>
              <a:rect l="l" t="t" r="r" b="b"/>
              <a:pathLst>
                <a:path w="24764" h="26035">
                  <a:moveTo>
                    <a:pt x="2159" y="0"/>
                  </a:moveTo>
                  <a:lnTo>
                    <a:pt x="508" y="5842"/>
                  </a:lnTo>
                  <a:lnTo>
                    <a:pt x="0" y="11684"/>
                  </a:lnTo>
                  <a:lnTo>
                    <a:pt x="762" y="15748"/>
                  </a:lnTo>
                  <a:lnTo>
                    <a:pt x="14986" y="25780"/>
                  </a:lnTo>
                  <a:lnTo>
                    <a:pt x="24765" y="25908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396990" y="5916726"/>
              <a:ext cx="40640" cy="136525"/>
            </a:xfrm>
            <a:custGeom>
              <a:avLst/>
              <a:gdLst/>
              <a:ahLst/>
              <a:cxnLst/>
              <a:rect l="l" t="t" r="r" b="b"/>
              <a:pathLst>
                <a:path w="40639" h="136525">
                  <a:moveTo>
                    <a:pt x="40512" y="0"/>
                  </a:moveTo>
                  <a:lnTo>
                    <a:pt x="0" y="136143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349263" y="6123012"/>
              <a:ext cx="122555" cy="149225"/>
            </a:xfrm>
            <a:custGeom>
              <a:avLst/>
              <a:gdLst/>
              <a:ahLst/>
              <a:cxnLst/>
              <a:rect l="l" t="t" r="r" b="b"/>
              <a:pathLst>
                <a:path w="122554" h="149225">
                  <a:moveTo>
                    <a:pt x="0" y="148970"/>
                  </a:moveTo>
                  <a:lnTo>
                    <a:pt x="122301" y="0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419621" y="6078855"/>
              <a:ext cx="75565" cy="4445"/>
            </a:xfrm>
            <a:custGeom>
              <a:avLst/>
              <a:gdLst/>
              <a:ahLst/>
              <a:cxnLst/>
              <a:rect l="l" t="t" r="r" b="b"/>
              <a:pathLst>
                <a:path w="75564" h="4445">
                  <a:moveTo>
                    <a:pt x="0" y="0"/>
                  </a:moveTo>
                  <a:lnTo>
                    <a:pt x="75057" y="3937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315519" y="6177216"/>
              <a:ext cx="18415" cy="58419"/>
            </a:xfrm>
            <a:custGeom>
              <a:avLst/>
              <a:gdLst/>
              <a:ahLst/>
              <a:cxnLst/>
              <a:rect l="l" t="t" r="r" b="b"/>
              <a:pathLst>
                <a:path w="18414" h="58420">
                  <a:moveTo>
                    <a:pt x="0" y="58039"/>
                  </a:moveTo>
                  <a:lnTo>
                    <a:pt x="17907" y="0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254673" y="5962167"/>
              <a:ext cx="123189" cy="151765"/>
            </a:xfrm>
            <a:custGeom>
              <a:avLst/>
              <a:gdLst/>
              <a:ahLst/>
              <a:cxnLst/>
              <a:rect l="l" t="t" r="r" b="b"/>
              <a:pathLst>
                <a:path w="123189" h="151764">
                  <a:moveTo>
                    <a:pt x="123189" y="0"/>
                  </a:moveTo>
                  <a:lnTo>
                    <a:pt x="0" y="151257"/>
                  </a:lnTo>
                </a:path>
              </a:pathLst>
            </a:custGeom>
            <a:ln w="18757">
              <a:solidFill>
                <a:srgbClr val="7F6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6123545" y="6519862"/>
            <a:ext cx="7274559" cy="919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746558"/>
                </a:solidFill>
                <a:latin typeface="Georgia Pro SemiBold"/>
                <a:cs typeface="Georgia Pro SemiBold"/>
              </a:rPr>
              <a:t>Spiking Neural </a:t>
            </a:r>
            <a:r>
              <a:rPr sz="1800" b="1" spc="-10" dirty="0">
                <a:solidFill>
                  <a:srgbClr val="746558"/>
                </a:solidFill>
                <a:latin typeface="Georgia Pro SemiBold"/>
                <a:cs typeface="Georgia Pro SemiBold"/>
              </a:rPr>
              <a:t>Networks</a:t>
            </a:r>
            <a:endParaRPr sz="1800">
              <a:latin typeface="Georgia Pro SemiBold"/>
              <a:cs typeface="Georgia Pro SemiBold"/>
            </a:endParaRPr>
          </a:p>
          <a:p>
            <a:pPr marL="12700" marR="5080">
              <a:lnSpc>
                <a:spcPct val="125000"/>
              </a:lnSpc>
              <a:spcBef>
                <a:spcPts val="670"/>
              </a:spcBef>
            </a:pPr>
            <a:r>
              <a:rPr sz="1400" dirty="0">
                <a:solidFill>
                  <a:srgbClr val="746558"/>
                </a:solidFill>
                <a:latin typeface="Yrsa"/>
                <a:cs typeface="Yrsa"/>
              </a:rPr>
              <a:t>Networks</a:t>
            </a:r>
            <a:r>
              <a:rPr sz="1400" spc="6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400" dirty="0">
                <a:solidFill>
                  <a:srgbClr val="746558"/>
                </a:solidFill>
                <a:latin typeface="Yrsa"/>
                <a:cs typeface="Yrsa"/>
              </a:rPr>
              <a:t>that</a:t>
            </a:r>
            <a:r>
              <a:rPr sz="1400" spc="6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400" dirty="0">
                <a:solidFill>
                  <a:srgbClr val="746558"/>
                </a:solidFill>
                <a:latin typeface="Yrsa"/>
                <a:cs typeface="Yrsa"/>
              </a:rPr>
              <a:t>use</a:t>
            </a:r>
            <a:r>
              <a:rPr sz="1400" spc="6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400" dirty="0">
                <a:solidFill>
                  <a:srgbClr val="746558"/>
                </a:solidFill>
                <a:latin typeface="Yrsa"/>
                <a:cs typeface="Yrsa"/>
              </a:rPr>
              <a:t>timed</a:t>
            </a:r>
            <a:r>
              <a:rPr sz="1400" spc="6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400" dirty="0">
                <a:solidFill>
                  <a:srgbClr val="746558"/>
                </a:solidFill>
                <a:latin typeface="Yrsa"/>
                <a:cs typeface="Yrsa"/>
              </a:rPr>
              <a:t>electrical</a:t>
            </a:r>
            <a:r>
              <a:rPr sz="1400" spc="6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400" dirty="0">
                <a:solidFill>
                  <a:srgbClr val="746558"/>
                </a:solidFill>
                <a:latin typeface="Yrsa"/>
                <a:cs typeface="Yrsa"/>
              </a:rPr>
              <a:t>pulses</a:t>
            </a:r>
            <a:r>
              <a:rPr sz="1400" spc="6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400" dirty="0">
                <a:solidFill>
                  <a:srgbClr val="746558"/>
                </a:solidFill>
                <a:latin typeface="Yrsa"/>
                <a:cs typeface="Yrsa"/>
              </a:rPr>
              <a:t>to</a:t>
            </a:r>
            <a:r>
              <a:rPr sz="1400" spc="6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400" dirty="0">
                <a:solidFill>
                  <a:srgbClr val="746558"/>
                </a:solidFill>
                <a:latin typeface="Yrsa"/>
                <a:cs typeface="Yrsa"/>
              </a:rPr>
              <a:t>communicate,</a:t>
            </a:r>
            <a:r>
              <a:rPr sz="1400" spc="6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400" dirty="0">
                <a:solidFill>
                  <a:srgbClr val="746558"/>
                </a:solidFill>
                <a:latin typeface="Yrsa"/>
                <a:cs typeface="Yrsa"/>
              </a:rPr>
              <a:t>making</a:t>
            </a:r>
            <a:r>
              <a:rPr sz="1400" spc="6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400" dirty="0">
                <a:solidFill>
                  <a:srgbClr val="746558"/>
                </a:solidFill>
                <a:latin typeface="Yrsa"/>
                <a:cs typeface="Yrsa"/>
              </a:rPr>
              <a:t>them</a:t>
            </a:r>
            <a:r>
              <a:rPr sz="1400" spc="6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400" dirty="0">
                <a:solidFill>
                  <a:srgbClr val="746558"/>
                </a:solidFill>
                <a:latin typeface="Yrsa"/>
                <a:cs typeface="Yrsa"/>
              </a:rPr>
              <a:t>more</a:t>
            </a:r>
            <a:r>
              <a:rPr sz="1400" spc="6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400" dirty="0">
                <a:solidFill>
                  <a:srgbClr val="746558"/>
                </a:solidFill>
                <a:latin typeface="Yrsa"/>
                <a:cs typeface="Yrsa"/>
              </a:rPr>
              <a:t>efficient</a:t>
            </a:r>
            <a:r>
              <a:rPr sz="1400" spc="6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400" dirty="0">
                <a:solidFill>
                  <a:srgbClr val="746558"/>
                </a:solidFill>
                <a:latin typeface="Yrsa"/>
                <a:cs typeface="Yrsa"/>
              </a:rPr>
              <a:t>and</a:t>
            </a:r>
            <a:r>
              <a:rPr sz="1400" spc="6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400" spc="-10" dirty="0">
                <a:solidFill>
                  <a:srgbClr val="746558"/>
                </a:solidFill>
                <a:latin typeface="Yrsa"/>
                <a:cs typeface="Yrsa"/>
              </a:rPr>
              <a:t>brain-</a:t>
            </a:r>
            <a:r>
              <a:rPr sz="1400" spc="-20" dirty="0">
                <a:solidFill>
                  <a:srgbClr val="746558"/>
                </a:solidFill>
                <a:latin typeface="Yrsa"/>
                <a:cs typeface="Yrsa"/>
              </a:rPr>
              <a:t>like </a:t>
            </a:r>
            <a:r>
              <a:rPr sz="1400" dirty="0">
                <a:solidFill>
                  <a:srgbClr val="746558"/>
                </a:solidFill>
                <a:latin typeface="Yrsa"/>
                <a:cs typeface="Yrsa"/>
              </a:rPr>
              <a:t>than</a:t>
            </a:r>
            <a:r>
              <a:rPr sz="140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400" dirty="0">
                <a:solidFill>
                  <a:srgbClr val="746558"/>
                </a:solidFill>
                <a:latin typeface="Yrsa"/>
                <a:cs typeface="Yrsa"/>
              </a:rPr>
              <a:t>traditional</a:t>
            </a:r>
            <a:r>
              <a:rPr sz="1400" spc="6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400" dirty="0">
                <a:solidFill>
                  <a:srgbClr val="746558"/>
                </a:solidFill>
                <a:latin typeface="Yrsa"/>
                <a:cs typeface="Yrsa"/>
              </a:rPr>
              <a:t>neural</a:t>
            </a:r>
            <a:r>
              <a:rPr sz="1400" spc="6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400" spc="-10" dirty="0">
                <a:solidFill>
                  <a:srgbClr val="746558"/>
                </a:solidFill>
                <a:latin typeface="Yrsa"/>
                <a:cs typeface="Yrsa"/>
              </a:rPr>
              <a:t>networks</a:t>
            </a:r>
            <a:endParaRPr sz="1400">
              <a:latin typeface="Yrsa"/>
              <a:cs typeface="Yrs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1684" y="1497964"/>
            <a:ext cx="661670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 spc="-45" dirty="0"/>
              <a:t>Real-</a:t>
            </a:r>
            <a:r>
              <a:rPr sz="4400" dirty="0"/>
              <a:t>World</a:t>
            </a:r>
            <a:r>
              <a:rPr sz="4400" spc="-229" dirty="0"/>
              <a:t> </a:t>
            </a:r>
            <a:r>
              <a:rPr sz="4400" spc="-10" dirty="0"/>
              <a:t>Applications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788" y="2699245"/>
            <a:ext cx="1767852" cy="176785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1684" y="4733620"/>
            <a:ext cx="2984500" cy="15805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spc="-10" dirty="0">
                <a:solidFill>
                  <a:srgbClr val="746558"/>
                </a:solidFill>
                <a:latin typeface="Georgia Pro SemiBold"/>
                <a:cs typeface="Georgia Pro SemiBold"/>
              </a:rPr>
              <a:t>Robotics</a:t>
            </a:r>
            <a:endParaRPr sz="2150">
              <a:latin typeface="Georgia Pro SemiBold"/>
              <a:cs typeface="Georgia Pro SemiBold"/>
            </a:endParaRPr>
          </a:p>
          <a:p>
            <a:pPr marL="12700" marR="5080">
              <a:lnSpc>
                <a:spcPct val="143500"/>
              </a:lnSpc>
              <a:spcBef>
                <a:spcPts val="844"/>
              </a:spcBef>
            </a:pP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Autonomous</a:t>
            </a:r>
            <a:r>
              <a:rPr sz="1700" spc="4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robots</a:t>
            </a:r>
            <a:r>
              <a:rPr sz="1700" spc="4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that</a:t>
            </a:r>
            <a:r>
              <a:rPr sz="170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learn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from</a:t>
            </a:r>
            <a:r>
              <a:rPr sz="1700" spc="3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their</a:t>
            </a:r>
            <a:r>
              <a:rPr sz="1700" spc="1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environment</a:t>
            </a:r>
            <a:r>
              <a:rPr sz="1700" spc="4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and</a:t>
            </a:r>
            <a:r>
              <a:rPr sz="1700" spc="4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adapt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to</a:t>
            </a:r>
            <a:r>
              <a:rPr sz="1700" spc="3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new situations</a:t>
            </a:r>
            <a:r>
              <a:rPr sz="1700" spc="3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in</a:t>
            </a:r>
            <a:r>
              <a:rPr sz="1700" spc="3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real-</a:t>
            </a:r>
            <a:r>
              <a:rPr sz="1700" spc="-20" dirty="0">
                <a:solidFill>
                  <a:srgbClr val="746558"/>
                </a:solidFill>
                <a:latin typeface="Yrsa"/>
                <a:cs typeface="Yrsa"/>
              </a:rPr>
              <a:t>time</a:t>
            </a:r>
            <a:endParaRPr sz="1700">
              <a:latin typeface="Yrsa"/>
              <a:cs typeface="Yrs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25341" y="2699245"/>
            <a:ext cx="1767852" cy="176785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115030" y="4733620"/>
            <a:ext cx="2900680" cy="15805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dirty="0">
                <a:solidFill>
                  <a:srgbClr val="746558"/>
                </a:solidFill>
                <a:latin typeface="Georgia Pro SemiBold"/>
                <a:cs typeface="Georgia Pro SemiBold"/>
              </a:rPr>
              <a:t>AI</a:t>
            </a:r>
            <a:r>
              <a:rPr sz="2150" b="1" spc="20" dirty="0">
                <a:solidFill>
                  <a:srgbClr val="746558"/>
                </a:solidFill>
                <a:latin typeface="Georgia Pro SemiBold"/>
                <a:cs typeface="Georgia Pro SemiBold"/>
              </a:rPr>
              <a:t> </a:t>
            </a:r>
            <a:r>
              <a:rPr sz="2150" b="1" spc="-10" dirty="0">
                <a:solidFill>
                  <a:srgbClr val="746558"/>
                </a:solidFill>
                <a:latin typeface="Georgia Pro SemiBold"/>
                <a:cs typeface="Georgia Pro SemiBold"/>
              </a:rPr>
              <a:t>Systems</a:t>
            </a:r>
            <a:endParaRPr sz="2150">
              <a:latin typeface="Georgia Pro SemiBold"/>
              <a:cs typeface="Georgia Pro SemiBold"/>
            </a:endParaRPr>
          </a:p>
          <a:p>
            <a:pPr marL="12700" marR="5080">
              <a:lnSpc>
                <a:spcPct val="143500"/>
              </a:lnSpc>
              <a:spcBef>
                <a:spcPts val="844"/>
              </a:spcBef>
            </a:pP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Smarter</a:t>
            </a:r>
            <a:r>
              <a:rPr sz="1700" spc="4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virtual</a:t>
            </a:r>
            <a:r>
              <a:rPr sz="1700" spc="8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assistants</a:t>
            </a:r>
            <a:r>
              <a:rPr sz="1700" spc="7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25" dirty="0">
                <a:solidFill>
                  <a:srgbClr val="746558"/>
                </a:solidFill>
                <a:latin typeface="Yrsa"/>
                <a:cs typeface="Yrsa"/>
              </a:rPr>
              <a:t>and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chatbots</a:t>
            </a:r>
            <a:r>
              <a:rPr sz="170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that</a:t>
            </a:r>
            <a:r>
              <a:rPr sz="170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understand</a:t>
            </a:r>
            <a:r>
              <a:rPr sz="170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context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and</a:t>
            </a:r>
            <a:r>
              <a:rPr sz="1700" spc="2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learn</a:t>
            </a:r>
            <a:r>
              <a:rPr sz="1700" spc="3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from</a:t>
            </a:r>
            <a:r>
              <a:rPr sz="1700" spc="3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conversations</a:t>
            </a:r>
            <a:endParaRPr sz="1700">
              <a:latin typeface="Yrsa"/>
              <a:cs typeface="Yrs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56931" y="2699245"/>
            <a:ext cx="1767852" cy="176785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448931" y="4733620"/>
            <a:ext cx="2806700" cy="15798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dirty="0">
                <a:solidFill>
                  <a:srgbClr val="746558"/>
                </a:solidFill>
                <a:latin typeface="Georgia Pro SemiBold"/>
                <a:cs typeface="Georgia Pro SemiBold"/>
              </a:rPr>
              <a:t>Self-Driving</a:t>
            </a:r>
            <a:r>
              <a:rPr sz="2150" b="1" spc="120" dirty="0">
                <a:solidFill>
                  <a:srgbClr val="746558"/>
                </a:solidFill>
                <a:latin typeface="Georgia Pro SemiBold"/>
                <a:cs typeface="Georgia Pro SemiBold"/>
              </a:rPr>
              <a:t> </a:t>
            </a:r>
            <a:r>
              <a:rPr sz="2150" b="1" spc="-20" dirty="0">
                <a:solidFill>
                  <a:srgbClr val="746558"/>
                </a:solidFill>
                <a:latin typeface="Georgia Pro SemiBold"/>
                <a:cs typeface="Georgia Pro SemiBold"/>
              </a:rPr>
              <a:t>Cars</a:t>
            </a:r>
            <a:endParaRPr sz="2150">
              <a:latin typeface="Georgia Pro SemiBold"/>
              <a:cs typeface="Georgia Pro SemiBold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Vehicles</a:t>
            </a:r>
            <a:r>
              <a:rPr sz="1700" spc="4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that</a:t>
            </a:r>
            <a:r>
              <a:rPr sz="1700" spc="4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process</a:t>
            </a:r>
            <a:r>
              <a:rPr sz="1700" spc="4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sensory</a:t>
            </a:r>
            <a:endParaRPr sz="1700">
              <a:latin typeface="Yrsa"/>
              <a:cs typeface="Yrsa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data</a:t>
            </a:r>
            <a:r>
              <a:rPr sz="1700" spc="3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instantly and</a:t>
            </a:r>
            <a:r>
              <a:rPr sz="1700" spc="4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20" dirty="0">
                <a:solidFill>
                  <a:srgbClr val="746558"/>
                </a:solidFill>
                <a:latin typeface="Yrsa"/>
                <a:cs typeface="Yrsa"/>
              </a:rPr>
              <a:t>make</a:t>
            </a:r>
            <a:endParaRPr sz="1700">
              <a:latin typeface="Yrsa"/>
              <a:cs typeface="Yrsa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split-second</a:t>
            </a:r>
            <a:r>
              <a:rPr sz="1700" spc="6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decisions</a:t>
            </a:r>
            <a:r>
              <a:rPr sz="1700" spc="6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for</a:t>
            </a:r>
            <a:r>
              <a:rPr sz="1700" spc="4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safety</a:t>
            </a:r>
            <a:endParaRPr sz="1700">
              <a:latin typeface="Yrsa"/>
              <a:cs typeface="Yrsa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88511" y="2699245"/>
            <a:ext cx="1767851" cy="176785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782554" y="4733620"/>
            <a:ext cx="2592070" cy="15805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spc="-10" dirty="0">
                <a:solidFill>
                  <a:srgbClr val="746558"/>
                </a:solidFill>
                <a:latin typeface="Georgia Pro SemiBold"/>
                <a:cs typeface="Georgia Pro SemiBold"/>
              </a:rPr>
              <a:t>Healthcare</a:t>
            </a:r>
            <a:endParaRPr sz="2150">
              <a:latin typeface="Georgia Pro SemiBold"/>
              <a:cs typeface="Georgia Pro SemiBold"/>
            </a:endParaRPr>
          </a:p>
          <a:p>
            <a:pPr marL="12700" marR="5080">
              <a:lnSpc>
                <a:spcPct val="143500"/>
              </a:lnSpc>
              <a:spcBef>
                <a:spcPts val="844"/>
              </a:spcBef>
            </a:pP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Medical</a:t>
            </a:r>
            <a:r>
              <a:rPr sz="1700" spc="3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devices</a:t>
            </a:r>
            <a:r>
              <a:rPr sz="1700" spc="3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that</a:t>
            </a:r>
            <a:r>
              <a:rPr sz="1700" spc="3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diagnose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diseases</a:t>
            </a:r>
            <a:r>
              <a:rPr sz="1700" spc="4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faster</a:t>
            </a:r>
            <a:r>
              <a:rPr sz="1700" spc="1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and</a:t>
            </a:r>
            <a:r>
              <a:rPr sz="1700" spc="4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monitor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patient</a:t>
            </a:r>
            <a:r>
              <a:rPr sz="170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health</a:t>
            </a:r>
            <a:r>
              <a:rPr sz="170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continuously</a:t>
            </a:r>
            <a:endParaRPr sz="1700">
              <a:latin typeface="Yrsa"/>
              <a:cs typeface="Yrs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332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 dirty="0"/>
              <a:t>Why</a:t>
            </a:r>
            <a:r>
              <a:rPr sz="4400" spc="5" dirty="0"/>
              <a:t> </a:t>
            </a:r>
            <a:r>
              <a:rPr sz="4400" dirty="0"/>
              <a:t>Cognitive</a:t>
            </a:r>
            <a:r>
              <a:rPr sz="4400" spc="5" dirty="0"/>
              <a:t> </a:t>
            </a:r>
            <a:r>
              <a:rPr sz="4400" dirty="0"/>
              <a:t>Silicon</a:t>
            </a:r>
            <a:r>
              <a:rPr sz="4400" spc="5" dirty="0"/>
              <a:t> </a:t>
            </a:r>
            <a:r>
              <a:rPr sz="4400" dirty="0"/>
              <a:t>is</a:t>
            </a:r>
            <a:r>
              <a:rPr sz="4400" spc="5" dirty="0"/>
              <a:t> </a:t>
            </a:r>
            <a:r>
              <a:rPr sz="4400" spc="-10" dirty="0"/>
              <a:t>Revolutionary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793775" y="2005444"/>
            <a:ext cx="6408420" cy="2577465"/>
            <a:chOff x="793775" y="2005444"/>
            <a:chExt cx="6408420" cy="2577465"/>
          </a:xfrm>
        </p:grpSpPr>
        <p:sp>
          <p:nvSpPr>
            <p:cNvPr id="4" name="object 4"/>
            <p:cNvSpPr/>
            <p:nvPr/>
          </p:nvSpPr>
          <p:spPr>
            <a:xfrm>
              <a:off x="793775" y="2005444"/>
              <a:ext cx="6408420" cy="2577465"/>
            </a:xfrm>
            <a:custGeom>
              <a:avLst/>
              <a:gdLst/>
              <a:ahLst/>
              <a:cxnLst/>
              <a:rect l="l" t="t" r="r" b="b"/>
              <a:pathLst>
                <a:path w="6408420" h="2577465">
                  <a:moveTo>
                    <a:pt x="6374003" y="0"/>
                  </a:moveTo>
                  <a:lnTo>
                    <a:pt x="34036" y="0"/>
                  </a:lnTo>
                  <a:lnTo>
                    <a:pt x="20788" y="2674"/>
                  </a:lnTo>
                  <a:lnTo>
                    <a:pt x="9969" y="9969"/>
                  </a:lnTo>
                  <a:lnTo>
                    <a:pt x="2674" y="20788"/>
                  </a:lnTo>
                  <a:lnTo>
                    <a:pt x="0" y="34036"/>
                  </a:lnTo>
                  <a:lnTo>
                    <a:pt x="0" y="2543175"/>
                  </a:lnTo>
                  <a:lnTo>
                    <a:pt x="2674" y="2556402"/>
                  </a:lnTo>
                  <a:lnTo>
                    <a:pt x="9969" y="2567178"/>
                  </a:lnTo>
                  <a:lnTo>
                    <a:pt x="20788" y="2574428"/>
                  </a:lnTo>
                  <a:lnTo>
                    <a:pt x="34036" y="2577084"/>
                  </a:lnTo>
                  <a:lnTo>
                    <a:pt x="6374003" y="2577084"/>
                  </a:lnTo>
                  <a:lnTo>
                    <a:pt x="6387250" y="2574428"/>
                  </a:lnTo>
                  <a:lnTo>
                    <a:pt x="6398069" y="2567178"/>
                  </a:lnTo>
                  <a:lnTo>
                    <a:pt x="6405364" y="2556402"/>
                  </a:lnTo>
                  <a:lnTo>
                    <a:pt x="6408039" y="2543175"/>
                  </a:lnTo>
                  <a:lnTo>
                    <a:pt x="6408039" y="34036"/>
                  </a:lnTo>
                  <a:lnTo>
                    <a:pt x="6405364" y="20788"/>
                  </a:lnTo>
                  <a:lnTo>
                    <a:pt x="6398069" y="9969"/>
                  </a:lnTo>
                  <a:lnTo>
                    <a:pt x="6387250" y="2674"/>
                  </a:lnTo>
                  <a:lnTo>
                    <a:pt x="6374003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20597" y="2232266"/>
              <a:ext cx="680720" cy="680720"/>
            </a:xfrm>
            <a:custGeom>
              <a:avLst/>
              <a:gdLst/>
              <a:ahLst/>
              <a:cxnLst/>
              <a:rect l="l" t="t" r="r" b="b"/>
              <a:pathLst>
                <a:path w="680719" h="680719">
                  <a:moveTo>
                    <a:pt x="340233" y="0"/>
                  </a:moveTo>
                  <a:lnTo>
                    <a:pt x="294053" y="3107"/>
                  </a:lnTo>
                  <a:lnTo>
                    <a:pt x="249766" y="12158"/>
                  </a:lnTo>
                  <a:lnTo>
                    <a:pt x="207775" y="26747"/>
                  </a:lnTo>
                  <a:lnTo>
                    <a:pt x="168486" y="46467"/>
                  </a:lnTo>
                  <a:lnTo>
                    <a:pt x="132303" y="70913"/>
                  </a:lnTo>
                  <a:lnTo>
                    <a:pt x="99631" y="99679"/>
                  </a:lnTo>
                  <a:lnTo>
                    <a:pt x="70875" y="132357"/>
                  </a:lnTo>
                  <a:lnTo>
                    <a:pt x="46439" y="168543"/>
                  </a:lnTo>
                  <a:lnTo>
                    <a:pt x="26729" y="207829"/>
                  </a:lnTo>
                  <a:lnTo>
                    <a:pt x="12149" y="249810"/>
                  </a:lnTo>
                  <a:lnTo>
                    <a:pt x="3104" y="294080"/>
                  </a:lnTo>
                  <a:lnTo>
                    <a:pt x="0" y="340233"/>
                  </a:lnTo>
                  <a:lnTo>
                    <a:pt x="3104" y="386412"/>
                  </a:lnTo>
                  <a:lnTo>
                    <a:pt x="12149" y="430699"/>
                  </a:lnTo>
                  <a:lnTo>
                    <a:pt x="26729" y="472690"/>
                  </a:lnTo>
                  <a:lnTo>
                    <a:pt x="46439" y="511979"/>
                  </a:lnTo>
                  <a:lnTo>
                    <a:pt x="70875" y="548162"/>
                  </a:lnTo>
                  <a:lnTo>
                    <a:pt x="99631" y="580834"/>
                  </a:lnTo>
                  <a:lnTo>
                    <a:pt x="132303" y="609590"/>
                  </a:lnTo>
                  <a:lnTo>
                    <a:pt x="168486" y="634026"/>
                  </a:lnTo>
                  <a:lnTo>
                    <a:pt x="207775" y="653736"/>
                  </a:lnTo>
                  <a:lnTo>
                    <a:pt x="249766" y="668316"/>
                  </a:lnTo>
                  <a:lnTo>
                    <a:pt x="294053" y="677361"/>
                  </a:lnTo>
                  <a:lnTo>
                    <a:pt x="340233" y="680466"/>
                  </a:lnTo>
                  <a:lnTo>
                    <a:pt x="386412" y="677361"/>
                  </a:lnTo>
                  <a:lnTo>
                    <a:pt x="430699" y="668316"/>
                  </a:lnTo>
                  <a:lnTo>
                    <a:pt x="472690" y="653736"/>
                  </a:lnTo>
                  <a:lnTo>
                    <a:pt x="511979" y="634026"/>
                  </a:lnTo>
                  <a:lnTo>
                    <a:pt x="548162" y="609590"/>
                  </a:lnTo>
                  <a:lnTo>
                    <a:pt x="580834" y="580834"/>
                  </a:lnTo>
                  <a:lnTo>
                    <a:pt x="609590" y="548162"/>
                  </a:lnTo>
                  <a:lnTo>
                    <a:pt x="634026" y="511979"/>
                  </a:lnTo>
                  <a:lnTo>
                    <a:pt x="653736" y="472690"/>
                  </a:lnTo>
                  <a:lnTo>
                    <a:pt x="668316" y="430699"/>
                  </a:lnTo>
                  <a:lnTo>
                    <a:pt x="677361" y="386412"/>
                  </a:lnTo>
                  <a:lnTo>
                    <a:pt x="680466" y="340233"/>
                  </a:lnTo>
                  <a:lnTo>
                    <a:pt x="677361" y="294080"/>
                  </a:lnTo>
                  <a:lnTo>
                    <a:pt x="668316" y="249810"/>
                  </a:lnTo>
                  <a:lnTo>
                    <a:pt x="653736" y="207829"/>
                  </a:lnTo>
                  <a:lnTo>
                    <a:pt x="634026" y="168543"/>
                  </a:lnTo>
                  <a:lnTo>
                    <a:pt x="609590" y="132357"/>
                  </a:lnTo>
                  <a:lnTo>
                    <a:pt x="580834" y="99679"/>
                  </a:lnTo>
                  <a:lnTo>
                    <a:pt x="548162" y="70913"/>
                  </a:lnTo>
                  <a:lnTo>
                    <a:pt x="511979" y="46467"/>
                  </a:lnTo>
                  <a:lnTo>
                    <a:pt x="472690" y="26747"/>
                  </a:lnTo>
                  <a:lnTo>
                    <a:pt x="430699" y="12158"/>
                  </a:lnTo>
                  <a:lnTo>
                    <a:pt x="386412" y="3107"/>
                  </a:lnTo>
                  <a:lnTo>
                    <a:pt x="340233" y="0"/>
                  </a:lnTo>
                  <a:close/>
                </a:path>
              </a:pathLst>
            </a:custGeom>
            <a:solidFill>
              <a:srgbClr val="D3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2818" y="2422353"/>
              <a:ext cx="34225" cy="515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3365" y="2419324"/>
              <a:ext cx="79969" cy="6949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328534" y="2467013"/>
              <a:ext cx="96520" cy="635"/>
            </a:xfrm>
            <a:custGeom>
              <a:avLst/>
              <a:gdLst/>
              <a:ahLst/>
              <a:cxnLst/>
              <a:rect l="l" t="t" r="r" b="b"/>
              <a:pathLst>
                <a:path w="96519" h="635">
                  <a:moveTo>
                    <a:pt x="0" y="0"/>
                  </a:moveTo>
                  <a:lnTo>
                    <a:pt x="96520" y="254"/>
                  </a:lnTo>
                </a:path>
              </a:pathLst>
            </a:custGeom>
            <a:ln w="124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25041" y="2467190"/>
              <a:ext cx="17145" cy="22225"/>
            </a:xfrm>
            <a:custGeom>
              <a:avLst/>
              <a:gdLst/>
              <a:ahLst/>
              <a:cxnLst/>
              <a:rect l="l" t="t" r="r" b="b"/>
              <a:pathLst>
                <a:path w="17144" h="22225">
                  <a:moveTo>
                    <a:pt x="0" y="0"/>
                  </a:moveTo>
                  <a:lnTo>
                    <a:pt x="9525" y="254"/>
                  </a:lnTo>
                  <a:lnTo>
                    <a:pt x="17018" y="8128"/>
                  </a:lnTo>
                  <a:lnTo>
                    <a:pt x="16891" y="17526"/>
                  </a:lnTo>
                  <a:lnTo>
                    <a:pt x="16764" y="19050"/>
                  </a:lnTo>
                  <a:lnTo>
                    <a:pt x="16637" y="20447"/>
                  </a:lnTo>
                  <a:lnTo>
                    <a:pt x="16256" y="21717"/>
                  </a:lnTo>
                </a:path>
              </a:pathLst>
            </a:custGeom>
            <a:ln w="124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41729" y="2489085"/>
              <a:ext cx="635" cy="202565"/>
            </a:xfrm>
            <a:custGeom>
              <a:avLst/>
              <a:gdLst/>
              <a:ahLst/>
              <a:cxnLst/>
              <a:rect l="l" t="t" r="r" b="b"/>
              <a:pathLst>
                <a:path w="634" h="202564">
                  <a:moveTo>
                    <a:pt x="0" y="0"/>
                  </a:moveTo>
                  <a:lnTo>
                    <a:pt x="254" y="202311"/>
                  </a:lnTo>
                </a:path>
              </a:pathLst>
            </a:custGeom>
            <a:ln w="124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12604" y="2684022"/>
              <a:ext cx="40360" cy="3248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298562" y="2712427"/>
              <a:ext cx="120650" cy="635"/>
            </a:xfrm>
            <a:custGeom>
              <a:avLst/>
              <a:gdLst/>
              <a:ahLst/>
              <a:cxnLst/>
              <a:rect l="l" t="t" r="r" b="b"/>
              <a:pathLst>
                <a:path w="120650" h="635">
                  <a:moveTo>
                    <a:pt x="120142" y="126"/>
                  </a:moveTo>
                  <a:lnTo>
                    <a:pt x="0" y="0"/>
                  </a:lnTo>
                </a:path>
              </a:pathLst>
            </a:custGeom>
            <a:ln w="124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5630" y="2680082"/>
              <a:ext cx="30018" cy="3622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279601" y="2486952"/>
              <a:ext cx="635" cy="203200"/>
            </a:xfrm>
            <a:custGeom>
              <a:avLst/>
              <a:gdLst/>
              <a:ahLst/>
              <a:cxnLst/>
              <a:rect l="l" t="t" r="r" b="b"/>
              <a:pathLst>
                <a:path w="634" h="203200">
                  <a:moveTo>
                    <a:pt x="381" y="202946"/>
                  </a:moveTo>
                  <a:lnTo>
                    <a:pt x="0" y="0"/>
                  </a:lnTo>
                </a:path>
              </a:pathLst>
            </a:custGeom>
            <a:ln w="124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94904" y="2467025"/>
              <a:ext cx="33655" cy="635"/>
            </a:xfrm>
            <a:custGeom>
              <a:avLst/>
              <a:gdLst/>
              <a:ahLst/>
              <a:cxnLst/>
              <a:rect l="l" t="t" r="r" b="b"/>
              <a:pathLst>
                <a:path w="33655" h="635">
                  <a:moveTo>
                    <a:pt x="0" y="253"/>
                  </a:moveTo>
                  <a:lnTo>
                    <a:pt x="33655" y="0"/>
                  </a:lnTo>
                </a:path>
              </a:pathLst>
            </a:custGeom>
            <a:ln w="124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336332" y="2431859"/>
              <a:ext cx="43180" cy="0"/>
            </a:xfrm>
            <a:custGeom>
              <a:avLst/>
              <a:gdLst/>
              <a:ahLst/>
              <a:cxnLst/>
              <a:rect l="l" t="t" r="r" b="b"/>
              <a:pathLst>
                <a:path w="43180">
                  <a:moveTo>
                    <a:pt x="42671" y="0"/>
                  </a:moveTo>
                  <a:lnTo>
                    <a:pt x="0" y="0"/>
                  </a:lnTo>
                </a:path>
              </a:pathLst>
            </a:custGeom>
            <a:ln w="124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008697" y="3120720"/>
            <a:ext cx="5471160" cy="12096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dirty="0">
                <a:solidFill>
                  <a:srgbClr val="746558"/>
                </a:solidFill>
                <a:latin typeface="Georgia Pro SemiBold"/>
                <a:cs typeface="Georgia Pro SemiBold"/>
              </a:rPr>
              <a:t>Energy</a:t>
            </a:r>
            <a:r>
              <a:rPr sz="2150" b="1" spc="70" dirty="0">
                <a:solidFill>
                  <a:srgbClr val="746558"/>
                </a:solidFill>
                <a:latin typeface="Georgia Pro SemiBold"/>
                <a:cs typeface="Georgia Pro SemiBold"/>
              </a:rPr>
              <a:t> </a:t>
            </a:r>
            <a:r>
              <a:rPr sz="2150" b="1" spc="-10" dirty="0">
                <a:solidFill>
                  <a:srgbClr val="746558"/>
                </a:solidFill>
                <a:latin typeface="Georgia Pro SemiBold"/>
                <a:cs typeface="Georgia Pro SemiBold"/>
              </a:rPr>
              <a:t>Eﬃcient</a:t>
            </a:r>
            <a:endParaRPr sz="2150">
              <a:latin typeface="Georgia Pro SemiBold"/>
              <a:cs typeface="Georgia Pro SemiBold"/>
            </a:endParaRPr>
          </a:p>
          <a:p>
            <a:pPr marL="12700" marR="5080" indent="-635">
              <a:lnSpc>
                <a:spcPct val="143500"/>
              </a:lnSpc>
              <a:spcBef>
                <a:spcPts val="860"/>
              </a:spcBef>
            </a:pP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Consumes</a:t>
            </a:r>
            <a:r>
              <a:rPr sz="1700" spc="3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up</a:t>
            </a:r>
            <a:r>
              <a:rPr sz="1700" spc="3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to</a:t>
            </a:r>
            <a:r>
              <a:rPr sz="1700" spc="3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D3C5B6"/>
                </a:solidFill>
                <a:latin typeface="Yrsa"/>
                <a:cs typeface="Yrsa"/>
              </a:rPr>
              <a:t>1000x</a:t>
            </a:r>
            <a:r>
              <a:rPr sz="1700" spc="35" dirty="0">
                <a:solidFill>
                  <a:srgbClr val="D3C5B6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D3C5B6"/>
                </a:solidFill>
                <a:latin typeface="Yrsa"/>
                <a:cs typeface="Yrsa"/>
              </a:rPr>
              <a:t>less</a:t>
            </a:r>
            <a:r>
              <a:rPr sz="1700" spc="35" dirty="0">
                <a:solidFill>
                  <a:srgbClr val="D3C5B6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D3C5B6"/>
                </a:solidFill>
                <a:latin typeface="Yrsa"/>
                <a:cs typeface="Yrsa"/>
              </a:rPr>
              <a:t>power</a:t>
            </a:r>
            <a:r>
              <a:rPr sz="1700" spc="5" dirty="0">
                <a:solidFill>
                  <a:srgbClr val="D3C5B6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than</a:t>
            </a:r>
            <a:r>
              <a:rPr sz="1700" spc="3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traditional</a:t>
            </a:r>
            <a:r>
              <a:rPr sz="1700" spc="3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chips</a:t>
            </a:r>
            <a:r>
              <a:rPr sz="1700" spc="3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by </a:t>
            </a:r>
            <a:r>
              <a:rPr sz="1700" spc="-20" dirty="0">
                <a:solidFill>
                  <a:srgbClr val="746558"/>
                </a:solidFill>
                <a:latin typeface="Yrsa"/>
                <a:cs typeface="Yrsa"/>
              </a:rPr>
              <a:t>only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activating</a:t>
            </a:r>
            <a:r>
              <a:rPr sz="1700" spc="4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when</a:t>
            </a:r>
            <a:r>
              <a:rPr sz="1700" spc="4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needed</a:t>
            </a:r>
            <a:endParaRPr sz="1700">
              <a:latin typeface="Yrsa"/>
              <a:cs typeface="Yrs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428471" y="2005444"/>
            <a:ext cx="6408420" cy="2577465"/>
            <a:chOff x="7428471" y="2005444"/>
            <a:chExt cx="6408420" cy="2577465"/>
          </a:xfrm>
        </p:grpSpPr>
        <p:sp>
          <p:nvSpPr>
            <p:cNvPr id="19" name="object 19"/>
            <p:cNvSpPr/>
            <p:nvPr/>
          </p:nvSpPr>
          <p:spPr>
            <a:xfrm>
              <a:off x="7428471" y="2005444"/>
              <a:ext cx="6408420" cy="2577465"/>
            </a:xfrm>
            <a:custGeom>
              <a:avLst/>
              <a:gdLst/>
              <a:ahLst/>
              <a:cxnLst/>
              <a:rect l="l" t="t" r="r" b="b"/>
              <a:pathLst>
                <a:path w="6408419" h="2577465">
                  <a:moveTo>
                    <a:pt x="6374130" y="0"/>
                  </a:moveTo>
                  <a:lnTo>
                    <a:pt x="34036" y="0"/>
                  </a:lnTo>
                  <a:lnTo>
                    <a:pt x="20788" y="2674"/>
                  </a:lnTo>
                  <a:lnTo>
                    <a:pt x="9969" y="9969"/>
                  </a:lnTo>
                  <a:lnTo>
                    <a:pt x="2674" y="20788"/>
                  </a:lnTo>
                  <a:lnTo>
                    <a:pt x="0" y="34036"/>
                  </a:lnTo>
                  <a:lnTo>
                    <a:pt x="0" y="2543175"/>
                  </a:lnTo>
                  <a:lnTo>
                    <a:pt x="2674" y="2556402"/>
                  </a:lnTo>
                  <a:lnTo>
                    <a:pt x="9969" y="2567178"/>
                  </a:lnTo>
                  <a:lnTo>
                    <a:pt x="20788" y="2574428"/>
                  </a:lnTo>
                  <a:lnTo>
                    <a:pt x="34036" y="2577084"/>
                  </a:lnTo>
                  <a:lnTo>
                    <a:pt x="6374130" y="2577084"/>
                  </a:lnTo>
                  <a:lnTo>
                    <a:pt x="6387377" y="2574428"/>
                  </a:lnTo>
                  <a:lnTo>
                    <a:pt x="6398196" y="2567178"/>
                  </a:lnTo>
                  <a:lnTo>
                    <a:pt x="6405491" y="2556402"/>
                  </a:lnTo>
                  <a:lnTo>
                    <a:pt x="6408166" y="2543175"/>
                  </a:lnTo>
                  <a:lnTo>
                    <a:pt x="6408166" y="34036"/>
                  </a:lnTo>
                  <a:lnTo>
                    <a:pt x="6405491" y="20788"/>
                  </a:lnTo>
                  <a:lnTo>
                    <a:pt x="6398196" y="9969"/>
                  </a:lnTo>
                  <a:lnTo>
                    <a:pt x="6387377" y="2674"/>
                  </a:lnTo>
                  <a:lnTo>
                    <a:pt x="6374130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655306" y="2232266"/>
              <a:ext cx="680720" cy="680720"/>
            </a:xfrm>
            <a:custGeom>
              <a:avLst/>
              <a:gdLst/>
              <a:ahLst/>
              <a:cxnLst/>
              <a:rect l="l" t="t" r="r" b="b"/>
              <a:pathLst>
                <a:path w="680720" h="680719">
                  <a:moveTo>
                    <a:pt x="340233" y="0"/>
                  </a:moveTo>
                  <a:lnTo>
                    <a:pt x="294080" y="3107"/>
                  </a:lnTo>
                  <a:lnTo>
                    <a:pt x="249810" y="12158"/>
                  </a:lnTo>
                  <a:lnTo>
                    <a:pt x="207829" y="26747"/>
                  </a:lnTo>
                  <a:lnTo>
                    <a:pt x="168543" y="46467"/>
                  </a:lnTo>
                  <a:lnTo>
                    <a:pt x="132357" y="70913"/>
                  </a:lnTo>
                  <a:lnTo>
                    <a:pt x="99679" y="99679"/>
                  </a:lnTo>
                  <a:lnTo>
                    <a:pt x="70913" y="132357"/>
                  </a:lnTo>
                  <a:lnTo>
                    <a:pt x="46467" y="168543"/>
                  </a:lnTo>
                  <a:lnTo>
                    <a:pt x="26747" y="207829"/>
                  </a:lnTo>
                  <a:lnTo>
                    <a:pt x="12158" y="249810"/>
                  </a:lnTo>
                  <a:lnTo>
                    <a:pt x="3107" y="294080"/>
                  </a:lnTo>
                  <a:lnTo>
                    <a:pt x="0" y="340233"/>
                  </a:lnTo>
                  <a:lnTo>
                    <a:pt x="3107" y="386412"/>
                  </a:lnTo>
                  <a:lnTo>
                    <a:pt x="12158" y="430699"/>
                  </a:lnTo>
                  <a:lnTo>
                    <a:pt x="26747" y="472690"/>
                  </a:lnTo>
                  <a:lnTo>
                    <a:pt x="46467" y="511979"/>
                  </a:lnTo>
                  <a:lnTo>
                    <a:pt x="70913" y="548162"/>
                  </a:lnTo>
                  <a:lnTo>
                    <a:pt x="99679" y="580834"/>
                  </a:lnTo>
                  <a:lnTo>
                    <a:pt x="132357" y="609590"/>
                  </a:lnTo>
                  <a:lnTo>
                    <a:pt x="168543" y="634026"/>
                  </a:lnTo>
                  <a:lnTo>
                    <a:pt x="207829" y="653736"/>
                  </a:lnTo>
                  <a:lnTo>
                    <a:pt x="249810" y="668316"/>
                  </a:lnTo>
                  <a:lnTo>
                    <a:pt x="294080" y="677361"/>
                  </a:lnTo>
                  <a:lnTo>
                    <a:pt x="340233" y="680466"/>
                  </a:lnTo>
                  <a:lnTo>
                    <a:pt x="386412" y="677361"/>
                  </a:lnTo>
                  <a:lnTo>
                    <a:pt x="430699" y="668316"/>
                  </a:lnTo>
                  <a:lnTo>
                    <a:pt x="472690" y="653736"/>
                  </a:lnTo>
                  <a:lnTo>
                    <a:pt x="511979" y="634026"/>
                  </a:lnTo>
                  <a:lnTo>
                    <a:pt x="548162" y="609590"/>
                  </a:lnTo>
                  <a:lnTo>
                    <a:pt x="580834" y="580834"/>
                  </a:lnTo>
                  <a:lnTo>
                    <a:pt x="609590" y="548162"/>
                  </a:lnTo>
                  <a:lnTo>
                    <a:pt x="634026" y="511979"/>
                  </a:lnTo>
                  <a:lnTo>
                    <a:pt x="653736" y="472690"/>
                  </a:lnTo>
                  <a:lnTo>
                    <a:pt x="668316" y="430699"/>
                  </a:lnTo>
                  <a:lnTo>
                    <a:pt x="677361" y="386412"/>
                  </a:lnTo>
                  <a:lnTo>
                    <a:pt x="680466" y="340233"/>
                  </a:lnTo>
                  <a:lnTo>
                    <a:pt x="677361" y="294080"/>
                  </a:lnTo>
                  <a:lnTo>
                    <a:pt x="668316" y="249810"/>
                  </a:lnTo>
                  <a:lnTo>
                    <a:pt x="653736" y="207829"/>
                  </a:lnTo>
                  <a:lnTo>
                    <a:pt x="634026" y="168543"/>
                  </a:lnTo>
                  <a:lnTo>
                    <a:pt x="609590" y="132357"/>
                  </a:lnTo>
                  <a:lnTo>
                    <a:pt x="580834" y="99679"/>
                  </a:lnTo>
                  <a:lnTo>
                    <a:pt x="548162" y="70913"/>
                  </a:lnTo>
                  <a:lnTo>
                    <a:pt x="511979" y="46467"/>
                  </a:lnTo>
                  <a:lnTo>
                    <a:pt x="472690" y="26747"/>
                  </a:lnTo>
                  <a:lnTo>
                    <a:pt x="430699" y="12158"/>
                  </a:lnTo>
                  <a:lnTo>
                    <a:pt x="386412" y="3107"/>
                  </a:lnTo>
                  <a:lnTo>
                    <a:pt x="340233" y="0"/>
                  </a:lnTo>
                  <a:close/>
                </a:path>
              </a:pathLst>
            </a:custGeom>
            <a:solidFill>
              <a:srgbClr val="D3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09590" y="2425655"/>
              <a:ext cx="171921" cy="293331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647673" y="3120720"/>
            <a:ext cx="5861050" cy="12096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dirty="0">
                <a:solidFill>
                  <a:srgbClr val="746558"/>
                </a:solidFill>
                <a:latin typeface="Georgia Pro SemiBold"/>
                <a:cs typeface="Georgia Pro SemiBold"/>
              </a:rPr>
              <a:t>Lightning</a:t>
            </a:r>
            <a:r>
              <a:rPr sz="2150" b="1" spc="105" dirty="0">
                <a:solidFill>
                  <a:srgbClr val="746558"/>
                </a:solidFill>
                <a:latin typeface="Georgia Pro SemiBold"/>
                <a:cs typeface="Georgia Pro SemiBold"/>
              </a:rPr>
              <a:t> </a:t>
            </a:r>
            <a:r>
              <a:rPr sz="2150" b="1" spc="-20" dirty="0">
                <a:solidFill>
                  <a:srgbClr val="746558"/>
                </a:solidFill>
                <a:latin typeface="Georgia Pro SemiBold"/>
                <a:cs typeface="Georgia Pro SemiBold"/>
              </a:rPr>
              <a:t>Fast</a:t>
            </a:r>
            <a:endParaRPr sz="2150">
              <a:latin typeface="Georgia Pro SemiBold"/>
              <a:cs typeface="Georgia Pro SemiBold"/>
            </a:endParaRPr>
          </a:p>
          <a:p>
            <a:pPr marL="12700" marR="5080" indent="-635">
              <a:lnSpc>
                <a:spcPct val="143500"/>
              </a:lnSpc>
              <a:spcBef>
                <a:spcPts val="860"/>
              </a:spcBef>
            </a:pP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Processes</a:t>
            </a:r>
            <a:r>
              <a:rPr sz="1700" spc="4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information</a:t>
            </a:r>
            <a:r>
              <a:rPr sz="170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in</a:t>
            </a:r>
            <a:r>
              <a:rPr sz="170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real-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time</a:t>
            </a:r>
            <a:r>
              <a:rPr sz="1700" spc="4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without</a:t>
            </a:r>
            <a:r>
              <a:rPr sz="170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waiting</a:t>
            </a:r>
            <a:r>
              <a:rPr sz="170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for</a:t>
            </a:r>
            <a:r>
              <a:rPr sz="1700" spc="2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clock</a:t>
            </a:r>
            <a:r>
              <a:rPr sz="170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cycles,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enabling</a:t>
            </a:r>
            <a:r>
              <a:rPr sz="1700" spc="6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instant</a:t>
            </a:r>
            <a:r>
              <a:rPr sz="1700" spc="7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responses</a:t>
            </a:r>
            <a:endParaRPr sz="1700">
              <a:latin typeface="Yrsa"/>
              <a:cs typeface="Yrs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93775" y="4809350"/>
            <a:ext cx="6408420" cy="2577465"/>
            <a:chOff x="793775" y="4809350"/>
            <a:chExt cx="6408420" cy="2577465"/>
          </a:xfrm>
        </p:grpSpPr>
        <p:sp>
          <p:nvSpPr>
            <p:cNvPr id="24" name="object 24"/>
            <p:cNvSpPr/>
            <p:nvPr/>
          </p:nvSpPr>
          <p:spPr>
            <a:xfrm>
              <a:off x="793775" y="4809350"/>
              <a:ext cx="6408420" cy="2577465"/>
            </a:xfrm>
            <a:custGeom>
              <a:avLst/>
              <a:gdLst/>
              <a:ahLst/>
              <a:cxnLst/>
              <a:rect l="l" t="t" r="r" b="b"/>
              <a:pathLst>
                <a:path w="6408420" h="2577465">
                  <a:moveTo>
                    <a:pt x="6374003" y="0"/>
                  </a:moveTo>
                  <a:lnTo>
                    <a:pt x="34036" y="0"/>
                  </a:lnTo>
                  <a:lnTo>
                    <a:pt x="20788" y="2674"/>
                  </a:lnTo>
                  <a:lnTo>
                    <a:pt x="9969" y="9969"/>
                  </a:lnTo>
                  <a:lnTo>
                    <a:pt x="2674" y="20788"/>
                  </a:lnTo>
                  <a:lnTo>
                    <a:pt x="0" y="34036"/>
                  </a:lnTo>
                  <a:lnTo>
                    <a:pt x="0" y="2543175"/>
                  </a:lnTo>
                  <a:lnTo>
                    <a:pt x="2674" y="2556422"/>
                  </a:lnTo>
                  <a:lnTo>
                    <a:pt x="9969" y="2567241"/>
                  </a:lnTo>
                  <a:lnTo>
                    <a:pt x="20788" y="2574536"/>
                  </a:lnTo>
                  <a:lnTo>
                    <a:pt x="34036" y="2577211"/>
                  </a:lnTo>
                  <a:lnTo>
                    <a:pt x="6374003" y="2577211"/>
                  </a:lnTo>
                  <a:lnTo>
                    <a:pt x="6387250" y="2574536"/>
                  </a:lnTo>
                  <a:lnTo>
                    <a:pt x="6398069" y="2567241"/>
                  </a:lnTo>
                  <a:lnTo>
                    <a:pt x="6405364" y="2556422"/>
                  </a:lnTo>
                  <a:lnTo>
                    <a:pt x="6408039" y="2543175"/>
                  </a:lnTo>
                  <a:lnTo>
                    <a:pt x="6408039" y="34036"/>
                  </a:lnTo>
                  <a:lnTo>
                    <a:pt x="6405364" y="20788"/>
                  </a:lnTo>
                  <a:lnTo>
                    <a:pt x="6398069" y="9969"/>
                  </a:lnTo>
                  <a:lnTo>
                    <a:pt x="6387250" y="2674"/>
                  </a:lnTo>
                  <a:lnTo>
                    <a:pt x="6374003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20597" y="5036172"/>
              <a:ext cx="680720" cy="680720"/>
            </a:xfrm>
            <a:custGeom>
              <a:avLst/>
              <a:gdLst/>
              <a:ahLst/>
              <a:cxnLst/>
              <a:rect l="l" t="t" r="r" b="b"/>
              <a:pathLst>
                <a:path w="680719" h="680720">
                  <a:moveTo>
                    <a:pt x="340233" y="0"/>
                  </a:moveTo>
                  <a:lnTo>
                    <a:pt x="294053" y="3107"/>
                  </a:lnTo>
                  <a:lnTo>
                    <a:pt x="249766" y="12158"/>
                  </a:lnTo>
                  <a:lnTo>
                    <a:pt x="207775" y="26747"/>
                  </a:lnTo>
                  <a:lnTo>
                    <a:pt x="168486" y="46467"/>
                  </a:lnTo>
                  <a:lnTo>
                    <a:pt x="132303" y="70913"/>
                  </a:lnTo>
                  <a:lnTo>
                    <a:pt x="99631" y="99679"/>
                  </a:lnTo>
                  <a:lnTo>
                    <a:pt x="70875" y="132357"/>
                  </a:lnTo>
                  <a:lnTo>
                    <a:pt x="46439" y="168543"/>
                  </a:lnTo>
                  <a:lnTo>
                    <a:pt x="26729" y="207829"/>
                  </a:lnTo>
                  <a:lnTo>
                    <a:pt x="12149" y="249810"/>
                  </a:lnTo>
                  <a:lnTo>
                    <a:pt x="3104" y="294080"/>
                  </a:lnTo>
                  <a:lnTo>
                    <a:pt x="0" y="340233"/>
                  </a:lnTo>
                  <a:lnTo>
                    <a:pt x="3104" y="386412"/>
                  </a:lnTo>
                  <a:lnTo>
                    <a:pt x="12149" y="430699"/>
                  </a:lnTo>
                  <a:lnTo>
                    <a:pt x="26729" y="472690"/>
                  </a:lnTo>
                  <a:lnTo>
                    <a:pt x="46439" y="511979"/>
                  </a:lnTo>
                  <a:lnTo>
                    <a:pt x="70875" y="548162"/>
                  </a:lnTo>
                  <a:lnTo>
                    <a:pt x="99631" y="580834"/>
                  </a:lnTo>
                  <a:lnTo>
                    <a:pt x="132303" y="609590"/>
                  </a:lnTo>
                  <a:lnTo>
                    <a:pt x="168486" y="634026"/>
                  </a:lnTo>
                  <a:lnTo>
                    <a:pt x="207775" y="653736"/>
                  </a:lnTo>
                  <a:lnTo>
                    <a:pt x="249766" y="668316"/>
                  </a:lnTo>
                  <a:lnTo>
                    <a:pt x="294053" y="677361"/>
                  </a:lnTo>
                  <a:lnTo>
                    <a:pt x="340233" y="680466"/>
                  </a:lnTo>
                  <a:lnTo>
                    <a:pt x="386412" y="677361"/>
                  </a:lnTo>
                  <a:lnTo>
                    <a:pt x="430699" y="668316"/>
                  </a:lnTo>
                  <a:lnTo>
                    <a:pt x="472690" y="653736"/>
                  </a:lnTo>
                  <a:lnTo>
                    <a:pt x="511979" y="634026"/>
                  </a:lnTo>
                  <a:lnTo>
                    <a:pt x="548162" y="609590"/>
                  </a:lnTo>
                  <a:lnTo>
                    <a:pt x="580834" y="580834"/>
                  </a:lnTo>
                  <a:lnTo>
                    <a:pt x="609590" y="548162"/>
                  </a:lnTo>
                  <a:lnTo>
                    <a:pt x="634026" y="511979"/>
                  </a:lnTo>
                  <a:lnTo>
                    <a:pt x="653736" y="472690"/>
                  </a:lnTo>
                  <a:lnTo>
                    <a:pt x="668316" y="430699"/>
                  </a:lnTo>
                  <a:lnTo>
                    <a:pt x="677361" y="386412"/>
                  </a:lnTo>
                  <a:lnTo>
                    <a:pt x="680466" y="340233"/>
                  </a:lnTo>
                  <a:lnTo>
                    <a:pt x="677361" y="294080"/>
                  </a:lnTo>
                  <a:lnTo>
                    <a:pt x="668316" y="249810"/>
                  </a:lnTo>
                  <a:lnTo>
                    <a:pt x="653736" y="207829"/>
                  </a:lnTo>
                  <a:lnTo>
                    <a:pt x="634026" y="168543"/>
                  </a:lnTo>
                  <a:lnTo>
                    <a:pt x="609590" y="132357"/>
                  </a:lnTo>
                  <a:lnTo>
                    <a:pt x="580834" y="99679"/>
                  </a:lnTo>
                  <a:lnTo>
                    <a:pt x="548162" y="70913"/>
                  </a:lnTo>
                  <a:lnTo>
                    <a:pt x="511979" y="46467"/>
                  </a:lnTo>
                  <a:lnTo>
                    <a:pt x="472690" y="26747"/>
                  </a:lnTo>
                  <a:lnTo>
                    <a:pt x="430699" y="12158"/>
                  </a:lnTo>
                  <a:lnTo>
                    <a:pt x="386412" y="3107"/>
                  </a:lnTo>
                  <a:lnTo>
                    <a:pt x="340233" y="0"/>
                  </a:lnTo>
                  <a:close/>
                </a:path>
              </a:pathLst>
            </a:custGeom>
            <a:solidFill>
              <a:srgbClr val="D3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263319" y="5407850"/>
              <a:ext cx="59690" cy="64769"/>
            </a:xfrm>
            <a:custGeom>
              <a:avLst/>
              <a:gdLst/>
              <a:ahLst/>
              <a:cxnLst/>
              <a:rect l="l" t="t" r="r" b="b"/>
              <a:pathLst>
                <a:path w="59690" h="64770">
                  <a:moveTo>
                    <a:pt x="59436" y="64262"/>
                  </a:moveTo>
                  <a:lnTo>
                    <a:pt x="18923" y="62230"/>
                  </a:lnTo>
                  <a:lnTo>
                    <a:pt x="0" y="29591"/>
                  </a:lnTo>
                  <a:lnTo>
                    <a:pt x="0" y="0"/>
                  </a:lnTo>
                </a:path>
              </a:pathLst>
            </a:custGeom>
            <a:ln w="12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421701" y="5389410"/>
              <a:ext cx="22860" cy="22860"/>
            </a:xfrm>
            <a:custGeom>
              <a:avLst/>
              <a:gdLst/>
              <a:ahLst/>
              <a:cxnLst/>
              <a:rect l="l" t="t" r="r" b="b"/>
              <a:pathLst>
                <a:path w="22859" h="22860">
                  <a:moveTo>
                    <a:pt x="1524" y="5461"/>
                  </a:moveTo>
                  <a:lnTo>
                    <a:pt x="635" y="7366"/>
                  </a:lnTo>
                  <a:lnTo>
                    <a:pt x="127" y="9525"/>
                  </a:lnTo>
                  <a:lnTo>
                    <a:pt x="0" y="11430"/>
                  </a:lnTo>
                  <a:lnTo>
                    <a:pt x="127" y="13335"/>
                  </a:lnTo>
                  <a:lnTo>
                    <a:pt x="11176" y="22733"/>
                  </a:lnTo>
                  <a:lnTo>
                    <a:pt x="13081" y="22606"/>
                  </a:lnTo>
                  <a:lnTo>
                    <a:pt x="22479" y="11811"/>
                  </a:lnTo>
                  <a:lnTo>
                    <a:pt x="22479" y="9906"/>
                  </a:lnTo>
                  <a:lnTo>
                    <a:pt x="11303" y="0"/>
                  </a:lnTo>
                  <a:lnTo>
                    <a:pt x="8255" y="381"/>
                  </a:lnTo>
                  <a:lnTo>
                    <a:pt x="3302" y="2286"/>
                  </a:lnTo>
                </a:path>
              </a:pathLst>
            </a:custGeom>
            <a:ln w="12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355318" y="5321795"/>
              <a:ext cx="17145" cy="6985"/>
            </a:xfrm>
            <a:custGeom>
              <a:avLst/>
              <a:gdLst/>
              <a:ahLst/>
              <a:cxnLst/>
              <a:rect l="l" t="t" r="r" b="b"/>
              <a:pathLst>
                <a:path w="17144" h="6985">
                  <a:moveTo>
                    <a:pt x="0" y="6731"/>
                  </a:moveTo>
                  <a:lnTo>
                    <a:pt x="6604" y="127"/>
                  </a:lnTo>
                  <a:lnTo>
                    <a:pt x="17018" y="0"/>
                  </a:lnTo>
                </a:path>
              </a:pathLst>
            </a:custGeom>
            <a:ln w="12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394663" y="5321884"/>
              <a:ext cx="6985" cy="23495"/>
            </a:xfrm>
            <a:custGeom>
              <a:avLst/>
              <a:gdLst/>
              <a:ahLst/>
              <a:cxnLst/>
              <a:rect l="l" t="t" r="r" b="b"/>
              <a:pathLst>
                <a:path w="6984" h="23495">
                  <a:moveTo>
                    <a:pt x="0" y="0"/>
                  </a:moveTo>
                  <a:lnTo>
                    <a:pt x="6477" y="7493"/>
                  </a:lnTo>
                  <a:lnTo>
                    <a:pt x="6477" y="22987"/>
                  </a:lnTo>
                </a:path>
              </a:pathLst>
            </a:custGeom>
            <a:ln w="12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355242" y="5356859"/>
              <a:ext cx="46355" cy="31115"/>
            </a:xfrm>
            <a:custGeom>
              <a:avLst/>
              <a:gdLst/>
              <a:ahLst/>
              <a:cxnLst/>
              <a:rect l="l" t="t" r="r" b="b"/>
              <a:pathLst>
                <a:path w="46355" h="31114">
                  <a:moveTo>
                    <a:pt x="45846" y="16510"/>
                  </a:moveTo>
                  <a:lnTo>
                    <a:pt x="13114" y="30674"/>
                  </a:lnTo>
                  <a:lnTo>
                    <a:pt x="7492" y="30607"/>
                  </a:lnTo>
                  <a:lnTo>
                    <a:pt x="204" y="14345"/>
                  </a:lnTo>
                  <a:lnTo>
                    <a:pt x="0" y="0"/>
                  </a:lnTo>
                </a:path>
              </a:pathLst>
            </a:custGeom>
            <a:ln w="12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429588" y="5305018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5" h="24764">
                  <a:moveTo>
                    <a:pt x="1015" y="17399"/>
                  </a:moveTo>
                  <a:lnTo>
                    <a:pt x="253" y="14605"/>
                  </a:lnTo>
                  <a:lnTo>
                    <a:pt x="0" y="12192"/>
                  </a:lnTo>
                  <a:lnTo>
                    <a:pt x="253" y="9906"/>
                  </a:lnTo>
                  <a:lnTo>
                    <a:pt x="11429" y="0"/>
                  </a:lnTo>
                  <a:lnTo>
                    <a:pt x="13842" y="0"/>
                  </a:lnTo>
                  <a:lnTo>
                    <a:pt x="24510" y="11049"/>
                  </a:lnTo>
                  <a:lnTo>
                    <a:pt x="24510" y="13462"/>
                  </a:lnTo>
                  <a:lnTo>
                    <a:pt x="12699" y="24638"/>
                  </a:lnTo>
                  <a:lnTo>
                    <a:pt x="10286" y="24511"/>
                  </a:lnTo>
                  <a:lnTo>
                    <a:pt x="7873" y="23749"/>
                  </a:lnTo>
                  <a:lnTo>
                    <a:pt x="6603" y="23241"/>
                  </a:lnTo>
                  <a:lnTo>
                    <a:pt x="2031" y="20320"/>
                  </a:lnTo>
                </a:path>
              </a:pathLst>
            </a:custGeom>
            <a:ln w="12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401025" y="5373331"/>
              <a:ext cx="24130" cy="18415"/>
            </a:xfrm>
            <a:custGeom>
              <a:avLst/>
              <a:gdLst/>
              <a:ahLst/>
              <a:cxnLst/>
              <a:rect l="l" t="t" r="r" b="b"/>
              <a:pathLst>
                <a:path w="24130" h="18414">
                  <a:moveTo>
                    <a:pt x="23749" y="18415"/>
                  </a:moveTo>
                  <a:lnTo>
                    <a:pt x="14180" y="9197"/>
                  </a:lnTo>
                  <a:lnTo>
                    <a:pt x="8159" y="4016"/>
                  </a:lnTo>
                  <a:lnTo>
                    <a:pt x="3996" y="1430"/>
                  </a:lnTo>
                  <a:lnTo>
                    <a:pt x="0" y="0"/>
                  </a:lnTo>
                </a:path>
              </a:pathLst>
            </a:custGeom>
            <a:ln w="12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32382" y="5223230"/>
              <a:ext cx="281469" cy="242481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32549" y="5387925"/>
              <a:ext cx="40184" cy="27033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322755" y="5434558"/>
              <a:ext cx="125730" cy="82550"/>
            </a:xfrm>
            <a:custGeom>
              <a:avLst/>
              <a:gdLst/>
              <a:ahLst/>
              <a:cxnLst/>
              <a:rect l="l" t="t" r="r" b="b"/>
              <a:pathLst>
                <a:path w="125730" h="82550">
                  <a:moveTo>
                    <a:pt x="123697" y="82168"/>
                  </a:moveTo>
                  <a:lnTo>
                    <a:pt x="125729" y="0"/>
                  </a:lnTo>
                </a:path>
                <a:path w="125730" h="82550">
                  <a:moveTo>
                    <a:pt x="123697" y="82168"/>
                  </a:moveTo>
                  <a:lnTo>
                    <a:pt x="0" y="82168"/>
                  </a:lnTo>
                </a:path>
              </a:pathLst>
            </a:custGeom>
            <a:ln w="12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322755" y="5472112"/>
              <a:ext cx="0" cy="45085"/>
            </a:xfrm>
            <a:custGeom>
              <a:avLst/>
              <a:gdLst/>
              <a:ahLst/>
              <a:cxnLst/>
              <a:rect l="l" t="t" r="r" b="b"/>
              <a:pathLst>
                <a:path h="45085">
                  <a:moveTo>
                    <a:pt x="0" y="0"/>
                  </a:moveTo>
                  <a:lnTo>
                    <a:pt x="0" y="44577"/>
                  </a:lnTo>
                </a:path>
              </a:pathLst>
            </a:custGeom>
            <a:ln w="12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308188" y="5348757"/>
              <a:ext cx="24130" cy="24765"/>
            </a:xfrm>
            <a:custGeom>
              <a:avLst/>
              <a:gdLst/>
              <a:ahLst/>
              <a:cxnLst/>
              <a:rect l="l" t="t" r="r" b="b"/>
              <a:pathLst>
                <a:path w="24130" h="24764">
                  <a:moveTo>
                    <a:pt x="22478" y="8381"/>
                  </a:moveTo>
                  <a:lnTo>
                    <a:pt x="20319" y="2793"/>
                  </a:lnTo>
                  <a:lnTo>
                    <a:pt x="13969" y="0"/>
                  </a:lnTo>
                  <a:lnTo>
                    <a:pt x="8381" y="2158"/>
                  </a:lnTo>
                  <a:lnTo>
                    <a:pt x="2793" y="4317"/>
                  </a:lnTo>
                  <a:lnTo>
                    <a:pt x="0" y="10540"/>
                  </a:lnTo>
                  <a:lnTo>
                    <a:pt x="2158" y="16255"/>
                  </a:lnTo>
                  <a:lnTo>
                    <a:pt x="4317" y="21843"/>
                  </a:lnTo>
                  <a:lnTo>
                    <a:pt x="10540" y="24637"/>
                  </a:lnTo>
                  <a:lnTo>
                    <a:pt x="16255" y="22478"/>
                  </a:lnTo>
                  <a:lnTo>
                    <a:pt x="20954" y="20700"/>
                  </a:lnTo>
                  <a:lnTo>
                    <a:pt x="23748" y="15874"/>
                  </a:lnTo>
                  <a:lnTo>
                    <a:pt x="23113" y="10921"/>
                  </a:lnTo>
                </a:path>
              </a:pathLst>
            </a:custGeom>
            <a:ln w="12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373441" y="5266931"/>
              <a:ext cx="29209" cy="27940"/>
            </a:xfrm>
            <a:custGeom>
              <a:avLst/>
              <a:gdLst/>
              <a:ahLst/>
              <a:cxnLst/>
              <a:rect l="l" t="t" r="r" b="b"/>
              <a:pathLst>
                <a:path w="29209" h="27939">
                  <a:moveTo>
                    <a:pt x="11049" y="26924"/>
                  </a:moveTo>
                  <a:lnTo>
                    <a:pt x="4064" y="25146"/>
                  </a:lnTo>
                  <a:lnTo>
                    <a:pt x="0" y="18034"/>
                  </a:lnTo>
                  <a:lnTo>
                    <a:pt x="1778" y="11049"/>
                  </a:lnTo>
                  <a:lnTo>
                    <a:pt x="3556" y="4191"/>
                  </a:lnTo>
                  <a:lnTo>
                    <a:pt x="10668" y="0"/>
                  </a:lnTo>
                  <a:lnTo>
                    <a:pt x="17653" y="1778"/>
                  </a:lnTo>
                  <a:lnTo>
                    <a:pt x="24511" y="3683"/>
                  </a:lnTo>
                  <a:lnTo>
                    <a:pt x="28702" y="10668"/>
                  </a:lnTo>
                  <a:lnTo>
                    <a:pt x="26924" y="17653"/>
                  </a:lnTo>
                  <a:lnTo>
                    <a:pt x="25400" y="23495"/>
                  </a:lnTo>
                  <a:lnTo>
                    <a:pt x="20066" y="27432"/>
                  </a:lnTo>
                  <a:lnTo>
                    <a:pt x="13970" y="27305"/>
                  </a:lnTo>
                </a:path>
              </a:pathLst>
            </a:custGeom>
            <a:ln w="12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387386" y="5294782"/>
              <a:ext cx="0" cy="27305"/>
            </a:xfrm>
            <a:custGeom>
              <a:avLst/>
              <a:gdLst/>
              <a:ahLst/>
              <a:cxnLst/>
              <a:rect l="l" t="t" r="r" b="b"/>
              <a:pathLst>
                <a:path h="27304">
                  <a:moveTo>
                    <a:pt x="0" y="27050"/>
                  </a:moveTo>
                  <a:lnTo>
                    <a:pt x="0" y="0"/>
                  </a:lnTo>
                </a:path>
              </a:pathLst>
            </a:custGeom>
            <a:ln w="12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331671" y="5359615"/>
              <a:ext cx="24130" cy="0"/>
            </a:xfrm>
            <a:custGeom>
              <a:avLst/>
              <a:gdLst/>
              <a:ahLst/>
              <a:cxnLst/>
              <a:rect l="l" t="t" r="r" b="b"/>
              <a:pathLst>
                <a:path w="24130">
                  <a:moveTo>
                    <a:pt x="23621" y="0"/>
                  </a:moveTo>
                  <a:lnTo>
                    <a:pt x="0" y="0"/>
                  </a:lnTo>
                </a:path>
              </a:pathLst>
            </a:custGeom>
            <a:ln w="12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355305" y="5328462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28448"/>
                  </a:moveTo>
                  <a:lnTo>
                    <a:pt x="0" y="0"/>
                  </a:lnTo>
                </a:path>
              </a:pathLst>
            </a:custGeom>
            <a:ln w="12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401140" y="5339092"/>
              <a:ext cx="16510" cy="635"/>
            </a:xfrm>
            <a:custGeom>
              <a:avLst/>
              <a:gdLst/>
              <a:ahLst/>
              <a:cxnLst/>
              <a:rect l="l" t="t" r="r" b="b"/>
              <a:pathLst>
                <a:path w="16509" h="635">
                  <a:moveTo>
                    <a:pt x="16256" y="0"/>
                  </a:moveTo>
                  <a:lnTo>
                    <a:pt x="0" y="127"/>
                  </a:lnTo>
                </a:path>
              </a:pathLst>
            </a:custGeom>
            <a:ln w="12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417408" y="5325160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69" h="13970">
                  <a:moveTo>
                    <a:pt x="13969" y="0"/>
                  </a:moveTo>
                  <a:lnTo>
                    <a:pt x="0" y="13970"/>
                  </a:lnTo>
                </a:path>
              </a:pathLst>
            </a:custGeom>
            <a:ln w="12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372311" y="5321846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59">
                  <a:moveTo>
                    <a:pt x="0" y="0"/>
                  </a:moveTo>
                  <a:lnTo>
                    <a:pt x="22352" y="0"/>
                  </a:lnTo>
                </a:path>
              </a:pathLst>
            </a:custGeom>
            <a:ln w="12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423225" y="5391823"/>
              <a:ext cx="1905" cy="3175"/>
            </a:xfrm>
            <a:custGeom>
              <a:avLst/>
              <a:gdLst/>
              <a:ahLst/>
              <a:cxnLst/>
              <a:rect l="l" t="t" r="r" b="b"/>
              <a:pathLst>
                <a:path w="1905" h="3175">
                  <a:moveTo>
                    <a:pt x="0" y="3048"/>
                  </a:moveTo>
                  <a:lnTo>
                    <a:pt x="1651" y="0"/>
                  </a:lnTo>
                </a:path>
              </a:pathLst>
            </a:custGeom>
            <a:ln w="12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330629" y="5357152"/>
              <a:ext cx="1270" cy="2540"/>
            </a:xfrm>
            <a:custGeom>
              <a:avLst/>
              <a:gdLst/>
              <a:ahLst/>
              <a:cxnLst/>
              <a:rect l="l" t="t" r="r" b="b"/>
              <a:pathLst>
                <a:path w="1269" h="2539">
                  <a:moveTo>
                    <a:pt x="0" y="0"/>
                  </a:moveTo>
                  <a:lnTo>
                    <a:pt x="1016" y="2413"/>
                  </a:lnTo>
                </a:path>
              </a:pathLst>
            </a:custGeom>
            <a:ln w="12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401114" y="5344934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0"/>
                  </a:moveTo>
                  <a:lnTo>
                    <a:pt x="0" y="28448"/>
                  </a:lnTo>
                </a:path>
              </a:pathLst>
            </a:custGeom>
            <a:ln w="12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430604" y="5322417"/>
              <a:ext cx="1270" cy="2540"/>
            </a:xfrm>
            <a:custGeom>
              <a:avLst/>
              <a:gdLst/>
              <a:ahLst/>
              <a:cxnLst/>
              <a:rect l="l" t="t" r="r" b="b"/>
              <a:pathLst>
                <a:path w="1269" h="2539">
                  <a:moveTo>
                    <a:pt x="0" y="0"/>
                  </a:moveTo>
                  <a:lnTo>
                    <a:pt x="889" y="2540"/>
                  </a:lnTo>
                </a:path>
              </a:pathLst>
            </a:custGeom>
            <a:ln w="12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384503" y="5293842"/>
              <a:ext cx="3175" cy="1270"/>
            </a:xfrm>
            <a:custGeom>
              <a:avLst/>
              <a:gdLst/>
              <a:ahLst/>
              <a:cxnLst/>
              <a:rect l="l" t="t" r="r" b="b"/>
              <a:pathLst>
                <a:path w="3175" h="1270">
                  <a:moveTo>
                    <a:pt x="0" y="0"/>
                  </a:moveTo>
                  <a:lnTo>
                    <a:pt x="2921" y="889"/>
                  </a:lnTo>
                </a:path>
              </a:pathLst>
            </a:custGeom>
            <a:ln w="12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32698" y="5326867"/>
              <a:ext cx="40425" cy="72176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1008697" y="5929007"/>
            <a:ext cx="4652645" cy="1208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dirty="0">
                <a:solidFill>
                  <a:srgbClr val="746558"/>
                </a:solidFill>
                <a:latin typeface="Georgia Pro SemiBold"/>
                <a:cs typeface="Georgia Pro SemiBold"/>
              </a:rPr>
              <a:t>Superior</a:t>
            </a:r>
            <a:r>
              <a:rPr sz="2150" b="1" spc="95" dirty="0">
                <a:solidFill>
                  <a:srgbClr val="746558"/>
                </a:solidFill>
                <a:latin typeface="Georgia Pro SemiBold"/>
                <a:cs typeface="Georgia Pro SemiBold"/>
              </a:rPr>
              <a:t> </a:t>
            </a:r>
            <a:r>
              <a:rPr sz="2150" b="1" spc="-25" dirty="0">
                <a:solidFill>
                  <a:srgbClr val="746558"/>
                </a:solidFill>
                <a:latin typeface="Georgia Pro SemiBold"/>
                <a:cs typeface="Georgia Pro SemiBold"/>
              </a:rPr>
              <a:t>AI</a:t>
            </a:r>
            <a:endParaRPr sz="2150">
              <a:latin typeface="Georgia Pro SemiBold"/>
              <a:cs typeface="Georgia Pro SemiBold"/>
            </a:endParaRPr>
          </a:p>
          <a:p>
            <a:pPr marL="12700" marR="5080">
              <a:lnSpc>
                <a:spcPct val="143400"/>
              </a:lnSpc>
              <a:spcBef>
                <a:spcPts val="850"/>
              </a:spcBef>
            </a:pP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Better</a:t>
            </a:r>
            <a:r>
              <a:rPr sz="1700" spc="2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at</a:t>
            </a:r>
            <a:r>
              <a:rPr sz="170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pattern</a:t>
            </a:r>
            <a:r>
              <a:rPr sz="170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recognition,</a:t>
            </a:r>
            <a:r>
              <a:rPr sz="170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learning</a:t>
            </a:r>
            <a:r>
              <a:rPr sz="170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from</a:t>
            </a:r>
            <a:r>
              <a:rPr sz="170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data,</a:t>
            </a:r>
            <a:r>
              <a:rPr sz="1700" spc="4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25" dirty="0">
                <a:solidFill>
                  <a:srgbClr val="746558"/>
                </a:solidFill>
                <a:latin typeface="Yrsa"/>
                <a:cs typeface="Yrsa"/>
              </a:rPr>
              <a:t>and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handling</a:t>
            </a:r>
            <a:r>
              <a:rPr sz="1700" spc="7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ambiguous</a:t>
            </a:r>
            <a:r>
              <a:rPr sz="1700" spc="7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information</a:t>
            </a:r>
            <a:endParaRPr sz="1700">
              <a:latin typeface="Yrsa"/>
              <a:cs typeface="Yrsa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7428471" y="4809350"/>
            <a:ext cx="6408420" cy="2577465"/>
            <a:chOff x="7428471" y="4809350"/>
            <a:chExt cx="6408420" cy="2577465"/>
          </a:xfrm>
        </p:grpSpPr>
        <p:sp>
          <p:nvSpPr>
            <p:cNvPr id="53" name="object 53"/>
            <p:cNvSpPr/>
            <p:nvPr/>
          </p:nvSpPr>
          <p:spPr>
            <a:xfrm>
              <a:off x="7428471" y="4809350"/>
              <a:ext cx="6408420" cy="2577465"/>
            </a:xfrm>
            <a:custGeom>
              <a:avLst/>
              <a:gdLst/>
              <a:ahLst/>
              <a:cxnLst/>
              <a:rect l="l" t="t" r="r" b="b"/>
              <a:pathLst>
                <a:path w="6408419" h="2577465">
                  <a:moveTo>
                    <a:pt x="6374130" y="0"/>
                  </a:moveTo>
                  <a:lnTo>
                    <a:pt x="34036" y="0"/>
                  </a:lnTo>
                  <a:lnTo>
                    <a:pt x="20788" y="2674"/>
                  </a:lnTo>
                  <a:lnTo>
                    <a:pt x="9969" y="9969"/>
                  </a:lnTo>
                  <a:lnTo>
                    <a:pt x="2674" y="20788"/>
                  </a:lnTo>
                  <a:lnTo>
                    <a:pt x="0" y="34036"/>
                  </a:lnTo>
                  <a:lnTo>
                    <a:pt x="0" y="2543175"/>
                  </a:lnTo>
                  <a:lnTo>
                    <a:pt x="2674" y="2556422"/>
                  </a:lnTo>
                  <a:lnTo>
                    <a:pt x="9969" y="2567241"/>
                  </a:lnTo>
                  <a:lnTo>
                    <a:pt x="20788" y="2574536"/>
                  </a:lnTo>
                  <a:lnTo>
                    <a:pt x="34036" y="2577211"/>
                  </a:lnTo>
                  <a:lnTo>
                    <a:pt x="6374130" y="2577211"/>
                  </a:lnTo>
                  <a:lnTo>
                    <a:pt x="6387377" y="2574536"/>
                  </a:lnTo>
                  <a:lnTo>
                    <a:pt x="6398196" y="2567241"/>
                  </a:lnTo>
                  <a:lnTo>
                    <a:pt x="6405491" y="2556422"/>
                  </a:lnTo>
                  <a:lnTo>
                    <a:pt x="6408166" y="2543175"/>
                  </a:lnTo>
                  <a:lnTo>
                    <a:pt x="6408166" y="34036"/>
                  </a:lnTo>
                  <a:lnTo>
                    <a:pt x="6405491" y="20788"/>
                  </a:lnTo>
                  <a:lnTo>
                    <a:pt x="6398196" y="9969"/>
                  </a:lnTo>
                  <a:lnTo>
                    <a:pt x="6387377" y="2674"/>
                  </a:lnTo>
                  <a:lnTo>
                    <a:pt x="6374130" y="0"/>
                  </a:lnTo>
                  <a:close/>
                </a:path>
              </a:pathLst>
            </a:custGeom>
            <a:solidFill>
              <a:srgbClr val="EEE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655306" y="5036172"/>
              <a:ext cx="680720" cy="680720"/>
            </a:xfrm>
            <a:custGeom>
              <a:avLst/>
              <a:gdLst/>
              <a:ahLst/>
              <a:cxnLst/>
              <a:rect l="l" t="t" r="r" b="b"/>
              <a:pathLst>
                <a:path w="680720" h="680720">
                  <a:moveTo>
                    <a:pt x="340233" y="0"/>
                  </a:moveTo>
                  <a:lnTo>
                    <a:pt x="294080" y="3107"/>
                  </a:lnTo>
                  <a:lnTo>
                    <a:pt x="249810" y="12158"/>
                  </a:lnTo>
                  <a:lnTo>
                    <a:pt x="207829" y="26747"/>
                  </a:lnTo>
                  <a:lnTo>
                    <a:pt x="168543" y="46467"/>
                  </a:lnTo>
                  <a:lnTo>
                    <a:pt x="132357" y="70913"/>
                  </a:lnTo>
                  <a:lnTo>
                    <a:pt x="99679" y="99679"/>
                  </a:lnTo>
                  <a:lnTo>
                    <a:pt x="70913" y="132357"/>
                  </a:lnTo>
                  <a:lnTo>
                    <a:pt x="46467" y="168543"/>
                  </a:lnTo>
                  <a:lnTo>
                    <a:pt x="26747" y="207829"/>
                  </a:lnTo>
                  <a:lnTo>
                    <a:pt x="12158" y="249810"/>
                  </a:lnTo>
                  <a:lnTo>
                    <a:pt x="3107" y="294080"/>
                  </a:lnTo>
                  <a:lnTo>
                    <a:pt x="0" y="340233"/>
                  </a:lnTo>
                  <a:lnTo>
                    <a:pt x="3107" y="386412"/>
                  </a:lnTo>
                  <a:lnTo>
                    <a:pt x="12158" y="430699"/>
                  </a:lnTo>
                  <a:lnTo>
                    <a:pt x="26747" y="472690"/>
                  </a:lnTo>
                  <a:lnTo>
                    <a:pt x="46467" y="511979"/>
                  </a:lnTo>
                  <a:lnTo>
                    <a:pt x="70913" y="548162"/>
                  </a:lnTo>
                  <a:lnTo>
                    <a:pt x="99679" y="580834"/>
                  </a:lnTo>
                  <a:lnTo>
                    <a:pt x="132357" y="609590"/>
                  </a:lnTo>
                  <a:lnTo>
                    <a:pt x="168543" y="634026"/>
                  </a:lnTo>
                  <a:lnTo>
                    <a:pt x="207829" y="653736"/>
                  </a:lnTo>
                  <a:lnTo>
                    <a:pt x="249810" y="668316"/>
                  </a:lnTo>
                  <a:lnTo>
                    <a:pt x="294080" y="677361"/>
                  </a:lnTo>
                  <a:lnTo>
                    <a:pt x="340233" y="680466"/>
                  </a:lnTo>
                  <a:lnTo>
                    <a:pt x="386412" y="677361"/>
                  </a:lnTo>
                  <a:lnTo>
                    <a:pt x="430699" y="668316"/>
                  </a:lnTo>
                  <a:lnTo>
                    <a:pt x="472690" y="653736"/>
                  </a:lnTo>
                  <a:lnTo>
                    <a:pt x="511979" y="634026"/>
                  </a:lnTo>
                  <a:lnTo>
                    <a:pt x="548162" y="609590"/>
                  </a:lnTo>
                  <a:lnTo>
                    <a:pt x="580834" y="580834"/>
                  </a:lnTo>
                  <a:lnTo>
                    <a:pt x="609590" y="548162"/>
                  </a:lnTo>
                  <a:lnTo>
                    <a:pt x="634026" y="511979"/>
                  </a:lnTo>
                  <a:lnTo>
                    <a:pt x="653736" y="472690"/>
                  </a:lnTo>
                  <a:lnTo>
                    <a:pt x="668316" y="430699"/>
                  </a:lnTo>
                  <a:lnTo>
                    <a:pt x="677361" y="386412"/>
                  </a:lnTo>
                  <a:lnTo>
                    <a:pt x="680466" y="340233"/>
                  </a:lnTo>
                  <a:lnTo>
                    <a:pt x="677361" y="294080"/>
                  </a:lnTo>
                  <a:lnTo>
                    <a:pt x="668316" y="249810"/>
                  </a:lnTo>
                  <a:lnTo>
                    <a:pt x="653736" y="207829"/>
                  </a:lnTo>
                  <a:lnTo>
                    <a:pt x="634026" y="168543"/>
                  </a:lnTo>
                  <a:lnTo>
                    <a:pt x="609590" y="132357"/>
                  </a:lnTo>
                  <a:lnTo>
                    <a:pt x="580834" y="99679"/>
                  </a:lnTo>
                  <a:lnTo>
                    <a:pt x="548162" y="70913"/>
                  </a:lnTo>
                  <a:lnTo>
                    <a:pt x="511979" y="46467"/>
                  </a:lnTo>
                  <a:lnTo>
                    <a:pt x="472690" y="26747"/>
                  </a:lnTo>
                  <a:lnTo>
                    <a:pt x="430699" y="12158"/>
                  </a:lnTo>
                  <a:lnTo>
                    <a:pt x="386412" y="3107"/>
                  </a:lnTo>
                  <a:lnTo>
                    <a:pt x="340233" y="0"/>
                  </a:lnTo>
                  <a:close/>
                </a:path>
              </a:pathLst>
            </a:custGeom>
            <a:solidFill>
              <a:srgbClr val="D3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32454" y="5244650"/>
              <a:ext cx="113072" cy="131581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7955534" y="5268252"/>
              <a:ext cx="19050" cy="16510"/>
            </a:xfrm>
            <a:custGeom>
              <a:avLst/>
              <a:gdLst/>
              <a:ahLst/>
              <a:cxnLst/>
              <a:rect l="l" t="t" r="r" b="b"/>
              <a:pathLst>
                <a:path w="19050" h="16510">
                  <a:moveTo>
                    <a:pt x="0" y="0"/>
                  </a:moveTo>
                  <a:lnTo>
                    <a:pt x="18796" y="16002"/>
                  </a:lnTo>
                </a:path>
              </a:pathLst>
            </a:custGeom>
            <a:ln w="124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060029" y="5357329"/>
              <a:ext cx="26670" cy="12700"/>
            </a:xfrm>
            <a:custGeom>
              <a:avLst/>
              <a:gdLst/>
              <a:ahLst/>
              <a:cxnLst/>
              <a:rect l="l" t="t" r="r" b="b"/>
              <a:pathLst>
                <a:path w="26670" h="12700">
                  <a:moveTo>
                    <a:pt x="0" y="0"/>
                  </a:moveTo>
                  <a:lnTo>
                    <a:pt x="23241" y="12192"/>
                  </a:lnTo>
                  <a:lnTo>
                    <a:pt x="26288" y="12192"/>
                  </a:lnTo>
                </a:path>
              </a:pathLst>
            </a:custGeom>
            <a:ln w="124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962020" y="5435572"/>
              <a:ext cx="67291" cy="69512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7950593" y="5324474"/>
              <a:ext cx="44450" cy="36195"/>
            </a:xfrm>
            <a:custGeom>
              <a:avLst/>
              <a:gdLst/>
              <a:ahLst/>
              <a:cxnLst/>
              <a:rect l="l" t="t" r="r" b="b"/>
              <a:pathLst>
                <a:path w="44450" h="36195">
                  <a:moveTo>
                    <a:pt x="44196" y="0"/>
                  </a:moveTo>
                  <a:lnTo>
                    <a:pt x="0" y="35814"/>
                  </a:lnTo>
                </a:path>
              </a:pathLst>
            </a:custGeom>
            <a:ln w="124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086293" y="5369318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5">
                  <a:moveTo>
                    <a:pt x="0" y="254"/>
                  </a:moveTo>
                  <a:lnTo>
                    <a:pt x="254" y="0"/>
                  </a:lnTo>
                </a:path>
              </a:pathLst>
            </a:custGeom>
            <a:ln w="124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086599" y="5369280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5">
                  <a:moveTo>
                    <a:pt x="0" y="0"/>
                  </a:moveTo>
                  <a:lnTo>
                    <a:pt x="508" y="253"/>
                  </a:lnTo>
                </a:path>
              </a:pathLst>
            </a:custGeom>
            <a:ln w="124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52213" y="5237487"/>
              <a:ext cx="149700" cy="209095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8009294" y="5268150"/>
              <a:ext cx="27305" cy="22225"/>
            </a:xfrm>
            <a:custGeom>
              <a:avLst/>
              <a:gdLst/>
              <a:ahLst/>
              <a:cxnLst/>
              <a:rect l="l" t="t" r="r" b="b"/>
              <a:pathLst>
                <a:path w="27304" h="22225">
                  <a:moveTo>
                    <a:pt x="26797" y="0"/>
                  </a:moveTo>
                  <a:lnTo>
                    <a:pt x="0" y="21844"/>
                  </a:lnTo>
                </a:path>
              </a:pathLst>
            </a:custGeom>
            <a:ln w="124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974394" y="5284254"/>
              <a:ext cx="85725" cy="73025"/>
            </a:xfrm>
            <a:custGeom>
              <a:avLst/>
              <a:gdLst/>
              <a:ahLst/>
              <a:cxnLst/>
              <a:rect l="l" t="t" r="r" b="b"/>
              <a:pathLst>
                <a:path w="85725" h="73025">
                  <a:moveTo>
                    <a:pt x="0" y="0"/>
                  </a:moveTo>
                  <a:lnTo>
                    <a:pt x="85598" y="73025"/>
                  </a:lnTo>
                </a:path>
              </a:pathLst>
            </a:custGeom>
            <a:ln w="124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7647673" y="5929007"/>
            <a:ext cx="4962525" cy="1208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dirty="0">
                <a:solidFill>
                  <a:srgbClr val="746558"/>
                </a:solidFill>
                <a:latin typeface="Georgia Pro SemiBold"/>
                <a:cs typeface="Georgia Pro SemiBold"/>
              </a:rPr>
              <a:t>Continuous</a:t>
            </a:r>
            <a:r>
              <a:rPr sz="2150" b="1" spc="114" dirty="0">
                <a:solidFill>
                  <a:srgbClr val="746558"/>
                </a:solidFill>
                <a:latin typeface="Georgia Pro SemiBold"/>
                <a:cs typeface="Georgia Pro SemiBold"/>
              </a:rPr>
              <a:t> </a:t>
            </a:r>
            <a:r>
              <a:rPr sz="2150" b="1" spc="-10" dirty="0">
                <a:solidFill>
                  <a:srgbClr val="746558"/>
                </a:solidFill>
                <a:latin typeface="Georgia Pro SemiBold"/>
                <a:cs typeface="Georgia Pro SemiBold"/>
              </a:rPr>
              <a:t>Learning</a:t>
            </a:r>
            <a:endParaRPr sz="2150">
              <a:latin typeface="Georgia Pro SemiBold"/>
              <a:cs typeface="Georgia Pro SemiBold"/>
            </a:endParaRPr>
          </a:p>
          <a:p>
            <a:pPr marL="12700" marR="5080">
              <a:lnSpc>
                <a:spcPct val="143400"/>
              </a:lnSpc>
              <a:spcBef>
                <a:spcPts val="850"/>
              </a:spcBef>
            </a:pP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Can</a:t>
            </a:r>
            <a:r>
              <a:rPr sz="1700" spc="3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learn</a:t>
            </a:r>
            <a:r>
              <a:rPr sz="1700" spc="3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on-the-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fly from</a:t>
            </a:r>
            <a:r>
              <a:rPr sz="1700" spc="4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new experiences</a:t>
            </a:r>
            <a:r>
              <a:rPr sz="1700" spc="3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without</a:t>
            </a:r>
            <a:r>
              <a:rPr sz="1700" spc="3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being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reprogrammed</a:t>
            </a:r>
            <a:r>
              <a:rPr sz="1700" spc="4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dirty="0">
                <a:solidFill>
                  <a:srgbClr val="746558"/>
                </a:solidFill>
                <a:latin typeface="Yrsa"/>
                <a:cs typeface="Yrsa"/>
              </a:rPr>
              <a:t>or</a:t>
            </a:r>
            <a:r>
              <a:rPr sz="1700" spc="1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700" spc="-10" dirty="0">
                <a:solidFill>
                  <a:srgbClr val="746558"/>
                </a:solidFill>
                <a:latin typeface="Yrsa"/>
                <a:cs typeface="Yrsa"/>
              </a:rPr>
              <a:t>rebooted</a:t>
            </a:r>
            <a:endParaRPr sz="1700">
              <a:latin typeface="Yrsa"/>
              <a:cs typeface="Yrs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450" cy="82296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5278" rIns="0" bIns="0" rtlCol="0">
            <a:spAutoFit/>
          </a:bodyPr>
          <a:lstStyle/>
          <a:p>
            <a:pPr marL="5699125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Challenges</a:t>
            </a:r>
            <a:r>
              <a:rPr sz="3950" spc="5" dirty="0"/>
              <a:t> </a:t>
            </a:r>
            <a:r>
              <a:rPr sz="3950" dirty="0"/>
              <a:t>and</a:t>
            </a:r>
            <a:r>
              <a:rPr sz="3950" spc="5" dirty="0"/>
              <a:t> </a:t>
            </a:r>
            <a:r>
              <a:rPr sz="3950" dirty="0"/>
              <a:t>Future</a:t>
            </a:r>
            <a:r>
              <a:rPr sz="3950" spc="5" dirty="0"/>
              <a:t> </a:t>
            </a:r>
            <a:r>
              <a:rPr sz="3950" spc="-10" dirty="0"/>
              <a:t>Outlook</a:t>
            </a:r>
            <a:endParaRPr sz="3950"/>
          </a:p>
        </p:txBody>
      </p:sp>
      <p:sp>
        <p:nvSpPr>
          <p:cNvPr id="4" name="object 4"/>
          <p:cNvSpPr txBox="1"/>
          <p:nvPr/>
        </p:nvSpPr>
        <p:spPr>
          <a:xfrm>
            <a:off x="6181725" y="2409189"/>
            <a:ext cx="3622675" cy="39033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00" b="1" dirty="0">
                <a:solidFill>
                  <a:srgbClr val="484237"/>
                </a:solidFill>
                <a:latin typeface="Georgia Pro SemiBold"/>
                <a:cs typeface="Georgia Pro SemiBold"/>
              </a:rPr>
              <a:t>Current</a:t>
            </a:r>
            <a:r>
              <a:rPr sz="2300" b="1" spc="90" dirty="0">
                <a:solidFill>
                  <a:srgbClr val="484237"/>
                </a:solidFill>
                <a:latin typeface="Georgia Pro SemiBold"/>
                <a:cs typeface="Georgia Pro SemiBold"/>
              </a:rPr>
              <a:t> </a:t>
            </a:r>
            <a:r>
              <a:rPr sz="2300" b="1" spc="-10" dirty="0">
                <a:solidFill>
                  <a:srgbClr val="484237"/>
                </a:solidFill>
                <a:latin typeface="Georgia Pro SemiBold"/>
                <a:cs typeface="Georgia Pro SemiBold"/>
              </a:rPr>
              <a:t>Challenges</a:t>
            </a:r>
            <a:endParaRPr sz="2300">
              <a:latin typeface="Georgia Pro SemiBold"/>
              <a:cs typeface="Georgia Pro SemiBold"/>
            </a:endParaRPr>
          </a:p>
          <a:p>
            <a:pPr marL="181610" marR="51435" indent="-169545">
              <a:lnSpc>
                <a:spcPct val="129299"/>
              </a:lnSpc>
              <a:spcBef>
                <a:spcPts val="1295"/>
              </a:spcBef>
              <a:buFont typeface="Liberation Serif"/>
              <a:buChar char="•"/>
              <a:tabLst>
                <a:tab pos="182880" algn="l"/>
              </a:tabLst>
            </a:pP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Technical</a:t>
            </a:r>
            <a:r>
              <a:rPr sz="155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complexity:</a:t>
            </a:r>
            <a:r>
              <a:rPr sz="155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Designing</a:t>
            </a:r>
            <a:r>
              <a:rPr sz="155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chips</a:t>
            </a:r>
            <a:r>
              <a:rPr sz="155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spc="-20" dirty="0">
                <a:solidFill>
                  <a:srgbClr val="746558"/>
                </a:solidFill>
                <a:latin typeface="Yrsa"/>
                <a:cs typeface="Yrsa"/>
              </a:rPr>
              <a:t>that 	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truly mimic</a:t>
            </a:r>
            <a:r>
              <a:rPr sz="1550" spc="3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brain</a:t>
            </a:r>
            <a:r>
              <a:rPr sz="1550" spc="4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functions</a:t>
            </a:r>
            <a:r>
              <a:rPr sz="1550" spc="4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is</a:t>
            </a:r>
            <a:r>
              <a:rPr sz="1550" spc="4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spc="-10" dirty="0">
                <a:solidFill>
                  <a:srgbClr val="746558"/>
                </a:solidFill>
                <a:latin typeface="Yrsa"/>
                <a:cs typeface="Yrsa"/>
              </a:rPr>
              <a:t>extremely 	difficult</a:t>
            </a:r>
            <a:endParaRPr sz="1550">
              <a:latin typeface="Yrsa"/>
              <a:cs typeface="Yrsa"/>
            </a:endParaRPr>
          </a:p>
          <a:p>
            <a:pPr marL="181610" marR="412115" indent="-169545">
              <a:lnSpc>
                <a:spcPct val="129200"/>
              </a:lnSpc>
              <a:buFont typeface="Liberation Serif"/>
              <a:buChar char="•"/>
              <a:tabLst>
                <a:tab pos="182880" algn="l"/>
              </a:tabLst>
            </a:pP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High</a:t>
            </a:r>
            <a:r>
              <a:rPr sz="155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development</a:t>
            </a:r>
            <a:r>
              <a:rPr sz="155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costs:</a:t>
            </a:r>
            <a:r>
              <a:rPr sz="155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Research</a:t>
            </a:r>
            <a:r>
              <a:rPr sz="155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spc="-25" dirty="0">
                <a:solidFill>
                  <a:srgbClr val="746558"/>
                </a:solidFill>
                <a:latin typeface="Yrsa"/>
                <a:cs typeface="Yrsa"/>
              </a:rPr>
              <a:t>and 	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manufacturing</a:t>
            </a:r>
            <a:r>
              <a:rPr sz="155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require</a:t>
            </a:r>
            <a:r>
              <a:rPr sz="155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spc="-10" dirty="0">
                <a:solidFill>
                  <a:srgbClr val="746558"/>
                </a:solidFill>
                <a:latin typeface="Yrsa"/>
                <a:cs typeface="Yrsa"/>
              </a:rPr>
              <a:t>massive</a:t>
            </a:r>
            <a:endParaRPr sz="1550">
              <a:latin typeface="Yrsa"/>
              <a:cs typeface="Yrsa"/>
            </a:endParaRPr>
          </a:p>
          <a:p>
            <a:pPr marL="182880">
              <a:lnSpc>
                <a:spcPct val="100000"/>
              </a:lnSpc>
              <a:spcBef>
                <a:spcPts val="550"/>
              </a:spcBef>
            </a:pPr>
            <a:r>
              <a:rPr sz="1550" spc="-10" dirty="0">
                <a:solidFill>
                  <a:srgbClr val="746558"/>
                </a:solidFill>
                <a:latin typeface="Yrsa"/>
                <a:cs typeface="Yrsa"/>
              </a:rPr>
              <a:t>investments</a:t>
            </a:r>
            <a:endParaRPr sz="1550">
              <a:latin typeface="Yrsa"/>
              <a:cs typeface="Yrsa"/>
            </a:endParaRPr>
          </a:p>
          <a:p>
            <a:pPr marL="181610" marR="5080" indent="-169545">
              <a:lnSpc>
                <a:spcPct val="129000"/>
              </a:lnSpc>
              <a:buFont typeface="Liberation Serif"/>
              <a:buChar char="•"/>
              <a:tabLst>
                <a:tab pos="182880" algn="l"/>
              </a:tabLst>
            </a:pP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Programming</a:t>
            </a:r>
            <a:r>
              <a:rPr sz="155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difficulty:</a:t>
            </a:r>
            <a:r>
              <a:rPr sz="155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Requires</a:t>
            </a:r>
            <a:r>
              <a:rPr sz="155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new</a:t>
            </a:r>
            <a:r>
              <a:rPr sz="1550" spc="1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spc="-10" dirty="0">
                <a:solidFill>
                  <a:srgbClr val="746558"/>
                </a:solidFill>
                <a:latin typeface="Yrsa"/>
                <a:cs typeface="Yrsa"/>
              </a:rPr>
              <a:t>tools 	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and</a:t>
            </a:r>
            <a:r>
              <a:rPr sz="1550" spc="4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expertise</a:t>
            </a:r>
            <a:r>
              <a:rPr sz="1550" spc="4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different</a:t>
            </a:r>
            <a:r>
              <a:rPr sz="1550" spc="4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from</a:t>
            </a:r>
            <a:r>
              <a:rPr sz="1550" spc="4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spc="-10" dirty="0">
                <a:solidFill>
                  <a:srgbClr val="746558"/>
                </a:solidFill>
                <a:latin typeface="Yrsa"/>
                <a:cs typeface="Yrsa"/>
              </a:rPr>
              <a:t>traditional 	coding</a:t>
            </a:r>
            <a:endParaRPr sz="1550">
              <a:latin typeface="Yrsa"/>
              <a:cs typeface="Yrsa"/>
            </a:endParaRPr>
          </a:p>
          <a:p>
            <a:pPr marL="181610" marR="100330" indent="-169545">
              <a:lnSpc>
                <a:spcPct val="129400"/>
              </a:lnSpc>
              <a:buFont typeface="Liberation Serif"/>
              <a:buChar char="•"/>
              <a:tabLst>
                <a:tab pos="182880" algn="l"/>
              </a:tabLst>
            </a:pP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Limited</a:t>
            </a:r>
            <a:r>
              <a:rPr sz="155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adoption:</a:t>
            </a:r>
            <a:r>
              <a:rPr sz="155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Still</a:t>
            </a:r>
            <a:r>
              <a:rPr sz="155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in</a:t>
            </a:r>
            <a:r>
              <a:rPr sz="1550" spc="6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early</a:t>
            </a:r>
            <a:r>
              <a:rPr sz="1550" spc="1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stages</a:t>
            </a:r>
            <a:r>
              <a:rPr sz="155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spc="-20" dirty="0">
                <a:solidFill>
                  <a:srgbClr val="746558"/>
                </a:solidFill>
                <a:latin typeface="Yrsa"/>
                <a:cs typeface="Yrsa"/>
              </a:rPr>
              <a:t>with 	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few</a:t>
            </a:r>
            <a:r>
              <a:rPr sz="1550" spc="1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commercial</a:t>
            </a:r>
            <a:r>
              <a:rPr sz="155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products</a:t>
            </a:r>
            <a:r>
              <a:rPr sz="155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spc="-10" dirty="0">
                <a:solidFill>
                  <a:srgbClr val="746558"/>
                </a:solidFill>
                <a:latin typeface="Yrsa"/>
                <a:cs typeface="Yrsa"/>
              </a:rPr>
              <a:t>available</a:t>
            </a:r>
            <a:endParaRPr sz="1550">
              <a:latin typeface="Yrsa"/>
              <a:cs typeface="Yrs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02290" y="2409189"/>
            <a:ext cx="2830195" cy="11645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30"/>
              </a:spcBef>
            </a:pPr>
            <a:r>
              <a:rPr sz="2300" b="1" dirty="0">
                <a:solidFill>
                  <a:srgbClr val="484237"/>
                </a:solidFill>
                <a:latin typeface="Georgia Pro SemiBold"/>
                <a:cs typeface="Georgia Pro SemiBold"/>
              </a:rPr>
              <a:t>Future</a:t>
            </a:r>
            <a:r>
              <a:rPr sz="2300" b="1" spc="75" dirty="0">
                <a:solidFill>
                  <a:srgbClr val="484237"/>
                </a:solidFill>
                <a:latin typeface="Georgia Pro SemiBold"/>
                <a:cs typeface="Georgia Pro SemiBold"/>
              </a:rPr>
              <a:t> </a:t>
            </a:r>
            <a:r>
              <a:rPr sz="2300" b="1" spc="-10" dirty="0">
                <a:solidFill>
                  <a:srgbClr val="484237"/>
                </a:solidFill>
                <a:latin typeface="Georgia Pro SemiBold"/>
                <a:cs typeface="Georgia Pro SemiBold"/>
              </a:rPr>
              <a:t>Potential</a:t>
            </a:r>
            <a:endParaRPr sz="2300">
              <a:latin typeface="Georgia Pro SemiBold"/>
              <a:cs typeface="Georgia Pro SemiBold"/>
            </a:endParaRPr>
          </a:p>
          <a:p>
            <a:pPr marL="12700" marR="5080">
              <a:lnSpc>
                <a:spcPct val="129000"/>
              </a:lnSpc>
              <a:spcBef>
                <a:spcPts val="1375"/>
              </a:spcBef>
            </a:pP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This</a:t>
            </a:r>
            <a:r>
              <a:rPr sz="155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technology</a:t>
            </a:r>
            <a:r>
              <a:rPr sz="1550" spc="1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could</a:t>
            </a:r>
            <a:r>
              <a:rPr sz="1550" spc="5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spc="-10" dirty="0">
                <a:solidFill>
                  <a:srgbClr val="D3C5B6"/>
                </a:solidFill>
                <a:latin typeface="Yrsa"/>
                <a:cs typeface="Yrsa"/>
              </a:rPr>
              <a:t>revolutionise </a:t>
            </a:r>
            <a:r>
              <a:rPr sz="1550" dirty="0">
                <a:solidFill>
                  <a:srgbClr val="D3C5B6"/>
                </a:solidFill>
                <a:latin typeface="Yrsa"/>
                <a:cs typeface="Yrsa"/>
              </a:rPr>
              <a:t>computing</a:t>
            </a:r>
            <a:r>
              <a:rPr sz="1550" spc="35" dirty="0">
                <a:solidFill>
                  <a:srgbClr val="D3C5B6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in</a:t>
            </a:r>
            <a:r>
              <a:rPr sz="1550" spc="4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the</a:t>
            </a:r>
            <a:r>
              <a:rPr sz="1550" spc="4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next</a:t>
            </a:r>
            <a:r>
              <a:rPr sz="1550" spc="4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spc="-10" dirty="0">
                <a:solidFill>
                  <a:srgbClr val="746558"/>
                </a:solidFill>
                <a:latin typeface="Yrsa"/>
                <a:cs typeface="Yrsa"/>
              </a:rPr>
              <a:t>decade:</a:t>
            </a:r>
            <a:endParaRPr sz="1550">
              <a:latin typeface="Yrsa"/>
              <a:cs typeface="Yrs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05148" y="3696146"/>
            <a:ext cx="3636645" cy="1856739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635"/>
              </a:spcBef>
              <a:buFont typeface="Liberation Serif"/>
              <a:buChar char="•"/>
              <a:tabLst>
                <a:tab pos="182245" algn="l"/>
              </a:tabLst>
            </a:pP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AI</a:t>
            </a:r>
            <a:r>
              <a:rPr sz="1550" spc="4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systems</a:t>
            </a:r>
            <a:r>
              <a:rPr sz="155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that</a:t>
            </a:r>
            <a:r>
              <a:rPr sz="1550" spc="4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think</a:t>
            </a:r>
            <a:r>
              <a:rPr sz="155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and</a:t>
            </a:r>
            <a:r>
              <a:rPr sz="1550" spc="4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learnlike</a:t>
            </a:r>
            <a:r>
              <a:rPr sz="155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spc="-10" dirty="0">
                <a:solidFill>
                  <a:srgbClr val="746558"/>
                </a:solidFill>
                <a:latin typeface="Yrsa"/>
                <a:cs typeface="Yrsa"/>
              </a:rPr>
              <a:t>humans</a:t>
            </a:r>
            <a:endParaRPr sz="1550">
              <a:latin typeface="Yrsa"/>
              <a:cs typeface="Yrsa"/>
            </a:endParaRPr>
          </a:p>
          <a:p>
            <a:pPr marL="182245" indent="-169545">
              <a:lnSpc>
                <a:spcPct val="100000"/>
              </a:lnSpc>
              <a:spcBef>
                <a:spcPts val="540"/>
              </a:spcBef>
              <a:buFont typeface="Liberation Serif"/>
              <a:buChar char="•"/>
              <a:tabLst>
                <a:tab pos="182245" algn="l"/>
              </a:tabLst>
            </a:pP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Truly</a:t>
            </a:r>
            <a:r>
              <a:rPr sz="1550" spc="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autonomous</a:t>
            </a:r>
            <a:r>
              <a:rPr sz="155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robots</a:t>
            </a:r>
            <a:r>
              <a:rPr sz="1550" spc="4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and</a:t>
            </a:r>
            <a:r>
              <a:rPr sz="1550" spc="5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spc="-10" dirty="0">
                <a:solidFill>
                  <a:srgbClr val="746558"/>
                </a:solidFill>
                <a:latin typeface="Yrsa"/>
                <a:cs typeface="Yrsa"/>
              </a:rPr>
              <a:t>vehicles</a:t>
            </a:r>
            <a:endParaRPr sz="1550">
              <a:latin typeface="Yrsa"/>
              <a:cs typeface="Yrsa"/>
            </a:endParaRPr>
          </a:p>
          <a:p>
            <a:pPr marL="181610" marR="520700" indent="-169545">
              <a:lnSpc>
                <a:spcPct val="129600"/>
              </a:lnSpc>
              <a:buFont typeface="Liberation Serif"/>
              <a:buChar char="•"/>
              <a:tabLst>
                <a:tab pos="182880" algn="l"/>
              </a:tabLst>
            </a:pP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Portable</a:t>
            </a:r>
            <a:r>
              <a:rPr sz="1550" spc="6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devices</a:t>
            </a:r>
            <a:r>
              <a:rPr sz="1550" spc="6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with</a:t>
            </a:r>
            <a:r>
              <a:rPr sz="1550" spc="7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spc="-10" dirty="0">
                <a:solidFill>
                  <a:srgbClr val="746558"/>
                </a:solidFill>
                <a:latin typeface="Yrsa"/>
                <a:cs typeface="Yrsa"/>
              </a:rPr>
              <a:t>supercomputer 	capabilities</a:t>
            </a:r>
            <a:endParaRPr sz="1550">
              <a:latin typeface="Yrsa"/>
              <a:cs typeface="Yrsa"/>
            </a:endParaRPr>
          </a:p>
          <a:p>
            <a:pPr marL="181610" marR="408940" indent="-169545">
              <a:lnSpc>
                <a:spcPct val="129000"/>
              </a:lnSpc>
              <a:buFont typeface="Liberation Serif"/>
              <a:buChar char="•"/>
              <a:tabLst>
                <a:tab pos="182880" algn="l"/>
              </a:tabLst>
            </a:pP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Brain-computer</a:t>
            </a:r>
            <a:r>
              <a:rPr sz="1550" spc="6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interfaces</a:t>
            </a:r>
            <a:r>
              <a:rPr sz="1550" spc="10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dirty="0">
                <a:solidFill>
                  <a:srgbClr val="746558"/>
                </a:solidFill>
                <a:latin typeface="Yrsa"/>
                <a:cs typeface="Yrsa"/>
              </a:rPr>
              <a:t>for</a:t>
            </a:r>
            <a:r>
              <a:rPr sz="1550" spc="7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50" spc="-10" dirty="0">
                <a:solidFill>
                  <a:srgbClr val="746558"/>
                </a:solidFill>
                <a:latin typeface="Yrsa"/>
                <a:cs typeface="Yrsa"/>
              </a:rPr>
              <a:t>medical 	applications</a:t>
            </a:r>
            <a:endParaRPr sz="1550">
              <a:latin typeface="Yrsa"/>
              <a:cs typeface="Yrs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450" cy="822968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24" rIns="0" bIns="0" rtlCol="0">
            <a:spAutoFit/>
          </a:bodyPr>
          <a:lstStyle/>
          <a:p>
            <a:pPr marL="5393690" marR="5080">
              <a:lnSpc>
                <a:spcPct val="106800"/>
              </a:lnSpc>
              <a:spcBef>
                <a:spcPts val="95"/>
              </a:spcBef>
            </a:pPr>
            <a:r>
              <a:rPr dirty="0"/>
              <a:t>Conclusion:</a:t>
            </a:r>
            <a:r>
              <a:rPr spc="5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dirty="0"/>
              <a:t>Dawn</a:t>
            </a:r>
            <a:r>
              <a:rPr spc="5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spc="-25" dirty="0"/>
              <a:t>New </a:t>
            </a:r>
            <a:r>
              <a:rPr dirty="0"/>
              <a:t>Computing</a:t>
            </a:r>
            <a:r>
              <a:rPr spc="5" dirty="0"/>
              <a:t> </a:t>
            </a:r>
            <a:r>
              <a:rPr spc="-25" dirty="0"/>
              <a:t>Era</a:t>
            </a:r>
          </a:p>
        </p:txBody>
      </p:sp>
      <p:sp>
        <p:nvSpPr>
          <p:cNvPr id="4" name="object 4"/>
          <p:cNvSpPr/>
          <p:nvPr/>
        </p:nvSpPr>
        <p:spPr>
          <a:xfrm>
            <a:off x="6171691" y="2669285"/>
            <a:ext cx="3802379" cy="22860"/>
          </a:xfrm>
          <a:custGeom>
            <a:avLst/>
            <a:gdLst/>
            <a:ahLst/>
            <a:cxnLst/>
            <a:rect l="l" t="t" r="r" b="b"/>
            <a:pathLst>
              <a:path w="3802379" h="22860">
                <a:moveTo>
                  <a:pt x="3802125" y="0"/>
                </a:moveTo>
                <a:lnTo>
                  <a:pt x="0" y="0"/>
                </a:lnTo>
                <a:lnTo>
                  <a:pt x="0" y="22860"/>
                </a:lnTo>
                <a:lnTo>
                  <a:pt x="3802125" y="22860"/>
                </a:lnTo>
                <a:lnTo>
                  <a:pt x="3802125" y="0"/>
                </a:lnTo>
                <a:close/>
              </a:path>
            </a:pathLst>
          </a:custGeom>
          <a:solidFill>
            <a:srgbClr val="D3C5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162928" y="2794000"/>
            <a:ext cx="3362960" cy="996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dirty="0">
                <a:solidFill>
                  <a:srgbClr val="746558"/>
                </a:solidFill>
                <a:latin typeface="Georgia Pro SemiBold"/>
                <a:cs typeface="Georgia Pro SemiBold"/>
              </a:rPr>
              <a:t>Bio-Inspired</a:t>
            </a:r>
            <a:r>
              <a:rPr sz="1850" b="1" spc="114" dirty="0">
                <a:solidFill>
                  <a:srgbClr val="746558"/>
                </a:solidFill>
                <a:latin typeface="Georgia Pro SemiBold"/>
                <a:cs typeface="Georgia Pro SemiBold"/>
              </a:rPr>
              <a:t> </a:t>
            </a:r>
            <a:r>
              <a:rPr sz="1850" b="1" spc="-10" dirty="0">
                <a:solidFill>
                  <a:srgbClr val="746558"/>
                </a:solidFill>
                <a:latin typeface="Georgia Pro SemiBold"/>
                <a:cs typeface="Georgia Pro SemiBold"/>
              </a:rPr>
              <a:t>Innovation</a:t>
            </a:r>
            <a:endParaRPr sz="1850">
              <a:latin typeface="Georgia Pro SemiBold"/>
              <a:cs typeface="Georgia Pro SemiBold"/>
            </a:endParaRPr>
          </a:p>
          <a:p>
            <a:pPr marL="12700" marR="5080">
              <a:lnSpc>
                <a:spcPct val="129299"/>
              </a:lnSpc>
              <a:spcBef>
                <a:spcPts val="740"/>
              </a:spcBef>
            </a:pP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Cognitive</a:t>
            </a:r>
            <a:r>
              <a:rPr sz="1500" spc="-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Silicon</a:t>
            </a:r>
            <a:r>
              <a:rPr sz="1500" spc="-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brings</a:t>
            </a:r>
            <a:r>
              <a:rPr sz="1500" spc="-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us</a:t>
            </a:r>
            <a:r>
              <a:rPr sz="1500" spc="-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closer</a:t>
            </a:r>
            <a:r>
              <a:rPr sz="1500" spc="-3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to</a:t>
            </a:r>
            <a:r>
              <a:rPr sz="1500" spc="-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spc="-10" dirty="0">
                <a:solidFill>
                  <a:srgbClr val="746558"/>
                </a:solidFill>
                <a:latin typeface="Yrsa"/>
                <a:cs typeface="Yrsa"/>
              </a:rPr>
              <a:t>creating </a:t>
            </a: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machines</a:t>
            </a:r>
            <a:r>
              <a:rPr sz="1500" spc="-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that</a:t>
            </a:r>
            <a:r>
              <a:rPr sz="1500" spc="-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think</a:t>
            </a:r>
            <a:r>
              <a:rPr sz="1500" spc="-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like</a:t>
            </a:r>
            <a:r>
              <a:rPr sz="1500" spc="-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biological</a:t>
            </a:r>
            <a:r>
              <a:rPr sz="1500" spc="-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spc="-10" dirty="0">
                <a:solidFill>
                  <a:srgbClr val="746558"/>
                </a:solidFill>
                <a:latin typeface="Yrsa"/>
                <a:cs typeface="Yrsa"/>
              </a:rPr>
              <a:t>brains</a:t>
            </a:r>
            <a:endParaRPr sz="1500">
              <a:latin typeface="Yrsa"/>
              <a:cs typeface="Yrs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62928" y="2377770"/>
            <a:ext cx="419036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85895" algn="l"/>
              </a:tabLst>
            </a:pPr>
            <a:r>
              <a:rPr sz="1500" spc="-25" dirty="0">
                <a:solidFill>
                  <a:srgbClr val="746558"/>
                </a:solidFill>
                <a:latin typeface="Calibri"/>
                <a:cs typeface="Calibri"/>
              </a:rPr>
              <a:t>01</a:t>
            </a:r>
            <a:r>
              <a:rPr sz="1500" dirty="0">
                <a:solidFill>
                  <a:srgbClr val="746558"/>
                </a:solidFill>
                <a:latin typeface="Calibri"/>
                <a:cs typeface="Calibri"/>
              </a:rPr>
              <a:t>	</a:t>
            </a:r>
            <a:r>
              <a:rPr sz="1500" spc="-25" dirty="0">
                <a:solidFill>
                  <a:srgbClr val="746558"/>
                </a:solidFill>
                <a:latin typeface="Calibri"/>
                <a:cs typeface="Calibri"/>
              </a:rPr>
              <a:t>02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142855" y="2669285"/>
            <a:ext cx="3802379" cy="22860"/>
          </a:xfrm>
          <a:custGeom>
            <a:avLst/>
            <a:gdLst/>
            <a:ahLst/>
            <a:cxnLst/>
            <a:rect l="l" t="t" r="r" b="b"/>
            <a:pathLst>
              <a:path w="3802380" h="22860">
                <a:moveTo>
                  <a:pt x="3802253" y="0"/>
                </a:moveTo>
                <a:lnTo>
                  <a:pt x="0" y="0"/>
                </a:lnTo>
                <a:lnTo>
                  <a:pt x="0" y="22860"/>
                </a:lnTo>
                <a:lnTo>
                  <a:pt x="3802253" y="22860"/>
                </a:lnTo>
                <a:lnTo>
                  <a:pt x="3802253" y="0"/>
                </a:lnTo>
                <a:close/>
              </a:path>
            </a:pathLst>
          </a:custGeom>
          <a:solidFill>
            <a:srgbClr val="D3C5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136505" y="2794000"/>
            <a:ext cx="3586479" cy="9912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dirty="0">
                <a:solidFill>
                  <a:srgbClr val="746558"/>
                </a:solidFill>
                <a:latin typeface="Georgia Pro SemiBold"/>
                <a:cs typeface="Georgia Pro SemiBold"/>
              </a:rPr>
              <a:t>Eﬃciency</a:t>
            </a:r>
            <a:r>
              <a:rPr sz="1850" b="1" spc="90" dirty="0">
                <a:solidFill>
                  <a:srgbClr val="746558"/>
                </a:solidFill>
                <a:latin typeface="Georgia Pro SemiBold"/>
                <a:cs typeface="Georgia Pro SemiBold"/>
              </a:rPr>
              <a:t> </a:t>
            </a:r>
            <a:r>
              <a:rPr sz="1850" b="1" spc="-10" dirty="0">
                <a:solidFill>
                  <a:srgbClr val="746558"/>
                </a:solidFill>
                <a:latin typeface="Georgia Pro SemiBold"/>
                <a:cs typeface="Georgia Pro SemiBold"/>
              </a:rPr>
              <a:t>Breakthrough</a:t>
            </a:r>
            <a:endParaRPr sz="1850">
              <a:latin typeface="Georgia Pro SemiBold"/>
              <a:cs typeface="Georgia Pro SemiBold"/>
            </a:endParaRPr>
          </a:p>
          <a:p>
            <a:pPr marL="12700" marR="5080">
              <a:lnSpc>
                <a:spcPct val="127299"/>
              </a:lnSpc>
              <a:spcBef>
                <a:spcPts val="775"/>
              </a:spcBef>
            </a:pPr>
            <a:r>
              <a:rPr sz="1500" spc="-10" dirty="0">
                <a:solidFill>
                  <a:srgbClr val="746558"/>
                </a:solidFill>
                <a:latin typeface="Yrsa"/>
                <a:cs typeface="Yrsa"/>
              </a:rPr>
              <a:t>Dramatically</a:t>
            </a:r>
            <a:r>
              <a:rPr sz="1500" spc="-2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reduces</a:t>
            </a:r>
            <a:r>
              <a:rPr sz="1500" spc="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power</a:t>
            </a:r>
            <a:r>
              <a:rPr sz="1500" spc="-1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consumption</a:t>
            </a:r>
            <a:r>
              <a:rPr sz="1500" spc="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spc="-10" dirty="0">
                <a:solidFill>
                  <a:srgbClr val="746558"/>
                </a:solidFill>
                <a:latin typeface="Yrsa"/>
                <a:cs typeface="Yrsa"/>
              </a:rPr>
              <a:t>while </a:t>
            </a: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increasing</a:t>
            </a:r>
            <a:r>
              <a:rPr sz="1500" spc="-1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processing</a:t>
            </a:r>
            <a:r>
              <a:rPr sz="1500" spc="-1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speed</a:t>
            </a:r>
            <a:r>
              <a:rPr sz="1500" spc="-1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for</a:t>
            </a:r>
            <a:r>
              <a:rPr sz="1500" spc="-3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AI</a:t>
            </a:r>
            <a:r>
              <a:rPr sz="1500" spc="-10" dirty="0">
                <a:solidFill>
                  <a:srgbClr val="746558"/>
                </a:solidFill>
                <a:latin typeface="Yrsa"/>
                <a:cs typeface="Yrsa"/>
              </a:rPr>
              <a:t> tasks</a:t>
            </a:r>
            <a:endParaRPr sz="1500">
              <a:latin typeface="Yrsa"/>
              <a:cs typeface="Yrs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71691" y="4721478"/>
            <a:ext cx="7773670" cy="22860"/>
          </a:xfrm>
          <a:custGeom>
            <a:avLst/>
            <a:gdLst/>
            <a:ahLst/>
            <a:cxnLst/>
            <a:rect l="l" t="t" r="r" b="b"/>
            <a:pathLst>
              <a:path w="7773669" h="22860">
                <a:moveTo>
                  <a:pt x="7773288" y="0"/>
                </a:moveTo>
                <a:lnTo>
                  <a:pt x="0" y="0"/>
                </a:lnTo>
                <a:lnTo>
                  <a:pt x="0" y="22860"/>
                </a:lnTo>
                <a:lnTo>
                  <a:pt x="7773288" y="22860"/>
                </a:lnTo>
                <a:lnTo>
                  <a:pt x="7773288" y="0"/>
                </a:lnTo>
                <a:close/>
              </a:path>
            </a:pathLst>
          </a:custGeom>
          <a:solidFill>
            <a:srgbClr val="D3C5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162928" y="4431995"/>
            <a:ext cx="7176134" cy="2712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25" dirty="0">
                <a:solidFill>
                  <a:srgbClr val="746558"/>
                </a:solidFill>
                <a:latin typeface="Calibri"/>
                <a:cs typeface="Calibri"/>
              </a:rPr>
              <a:t>03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1850" b="1" dirty="0">
                <a:solidFill>
                  <a:srgbClr val="746558"/>
                </a:solidFill>
                <a:latin typeface="Georgia Pro SemiBold"/>
                <a:cs typeface="Georgia Pro SemiBold"/>
              </a:rPr>
              <a:t>Future-Ready</a:t>
            </a:r>
            <a:r>
              <a:rPr sz="1850" b="1" spc="125" dirty="0">
                <a:solidFill>
                  <a:srgbClr val="746558"/>
                </a:solidFill>
                <a:latin typeface="Georgia Pro SemiBold"/>
                <a:cs typeface="Georgia Pro SemiBold"/>
              </a:rPr>
              <a:t> </a:t>
            </a:r>
            <a:r>
              <a:rPr sz="1850" b="1" spc="-10" dirty="0">
                <a:solidFill>
                  <a:srgbClr val="746558"/>
                </a:solidFill>
                <a:latin typeface="Georgia Pro SemiBold"/>
                <a:cs typeface="Georgia Pro SemiBold"/>
              </a:rPr>
              <a:t>Technology</a:t>
            </a:r>
            <a:endParaRPr sz="1850">
              <a:latin typeface="Georgia Pro SemiBold"/>
              <a:cs typeface="Georgia Pro SemiBold"/>
            </a:endParaRPr>
          </a:p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Will</a:t>
            </a:r>
            <a:r>
              <a:rPr sz="1500" spc="-1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power</a:t>
            </a:r>
            <a:r>
              <a:rPr sz="1500" spc="-3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the</a:t>
            </a:r>
            <a:r>
              <a:rPr sz="1500" spc="-1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next</a:t>
            </a:r>
            <a:r>
              <a:rPr sz="1500" spc="-1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generation</a:t>
            </a:r>
            <a:r>
              <a:rPr sz="1500" spc="-1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of</a:t>
            </a:r>
            <a:r>
              <a:rPr sz="1500" spc="-1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artificial</a:t>
            </a:r>
            <a:r>
              <a:rPr sz="1500" spc="-1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intelligence,robotics,</a:t>
            </a:r>
            <a:r>
              <a:rPr sz="1500" spc="-1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and</a:t>
            </a:r>
            <a:r>
              <a:rPr sz="1500" spc="-1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intelligent</a:t>
            </a:r>
            <a:r>
              <a:rPr sz="1500" spc="-1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spc="-10" dirty="0">
                <a:solidFill>
                  <a:srgbClr val="746558"/>
                </a:solidFill>
                <a:latin typeface="Yrsa"/>
                <a:cs typeface="Yrsa"/>
              </a:rPr>
              <a:t>systems</a:t>
            </a:r>
            <a:endParaRPr sz="1500">
              <a:latin typeface="Yrsa"/>
              <a:cs typeface="Yrsa"/>
            </a:endParaRPr>
          </a:p>
          <a:p>
            <a:pPr>
              <a:lnSpc>
                <a:spcPct val="100000"/>
              </a:lnSpc>
            </a:pPr>
            <a:endParaRPr sz="1500">
              <a:latin typeface="Yrsa"/>
              <a:cs typeface="Yrsa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500">
              <a:latin typeface="Yrsa"/>
              <a:cs typeface="Yrsa"/>
            </a:endParaRPr>
          </a:p>
          <a:p>
            <a:pPr marL="285115" marR="5080">
              <a:lnSpc>
                <a:spcPct val="122600"/>
              </a:lnSpc>
              <a:spcBef>
                <a:spcPts val="5"/>
              </a:spcBef>
            </a:pP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"Cognitive</a:t>
            </a:r>
            <a:r>
              <a:rPr sz="1500" spc="-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Silicon represents</a:t>
            </a:r>
            <a:r>
              <a:rPr sz="1500" spc="-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a fundamental</a:t>
            </a:r>
            <a:r>
              <a:rPr sz="1500" spc="-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shift in</a:t>
            </a:r>
            <a:r>
              <a:rPr sz="1500" spc="-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how</a:t>
            </a:r>
            <a:r>
              <a:rPr sz="1500" spc="-3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we</a:t>
            </a:r>
            <a:r>
              <a:rPr sz="1500" spc="-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build </a:t>
            </a:r>
            <a:r>
              <a:rPr sz="1500" spc="-10" dirty="0">
                <a:solidFill>
                  <a:srgbClr val="746558"/>
                </a:solidFill>
                <a:latin typeface="Yrsa"/>
                <a:cs typeface="Yrsa"/>
              </a:rPr>
              <a:t>computers—</a:t>
            </a: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moving</a:t>
            </a:r>
            <a:r>
              <a:rPr sz="1500" spc="-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spc="-20" dirty="0">
                <a:solidFill>
                  <a:srgbClr val="746558"/>
                </a:solidFill>
                <a:latin typeface="Yrsa"/>
                <a:cs typeface="Yrsa"/>
              </a:rPr>
              <a:t>from </a:t>
            </a: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programmed</a:t>
            </a:r>
            <a:r>
              <a:rPr sz="1500" spc="-1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machines</a:t>
            </a:r>
            <a:r>
              <a:rPr sz="1500" spc="-1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to</a:t>
            </a:r>
            <a:r>
              <a:rPr sz="1500" spc="-10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learning</a:t>
            </a:r>
            <a:r>
              <a:rPr sz="1500" spc="-5" dirty="0">
                <a:solidFill>
                  <a:srgbClr val="746558"/>
                </a:solidFill>
                <a:latin typeface="Yrsa"/>
                <a:cs typeface="Yrsa"/>
              </a:rPr>
              <a:t> </a:t>
            </a:r>
            <a:r>
              <a:rPr sz="1500" spc="-10" dirty="0">
                <a:solidFill>
                  <a:srgbClr val="746558"/>
                </a:solidFill>
                <a:latin typeface="Yrsa"/>
                <a:cs typeface="Yrsa"/>
              </a:rPr>
              <a:t>systems."</a:t>
            </a:r>
            <a:endParaRPr sz="1500">
              <a:latin typeface="Yrsa"/>
              <a:cs typeface="Yrs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500">
              <a:latin typeface="Yrsa"/>
              <a:cs typeface="Yrsa"/>
            </a:endParaRPr>
          </a:p>
          <a:p>
            <a:pPr marL="2171700">
              <a:lnSpc>
                <a:spcPct val="100000"/>
              </a:lnSpc>
            </a:pPr>
            <a:r>
              <a:rPr sz="1500" dirty="0">
                <a:solidFill>
                  <a:srgbClr val="746558"/>
                </a:solidFill>
                <a:latin typeface="Yrsa"/>
                <a:cs typeface="Yrsa"/>
              </a:rPr>
              <a:t>THANK</a:t>
            </a:r>
            <a:r>
              <a:rPr sz="1500" spc="-20" dirty="0">
                <a:solidFill>
                  <a:srgbClr val="746558"/>
                </a:solidFill>
                <a:latin typeface="Yrsa"/>
                <a:cs typeface="Yrsa"/>
              </a:rPr>
              <a:t> YOU!!</a:t>
            </a:r>
            <a:endParaRPr sz="1500">
              <a:latin typeface="Yrsa"/>
              <a:cs typeface="Yrs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171691" y="5901309"/>
            <a:ext cx="22860" cy="1446530"/>
          </a:xfrm>
          <a:custGeom>
            <a:avLst/>
            <a:gdLst/>
            <a:ahLst/>
            <a:cxnLst/>
            <a:rect l="l" t="t" r="r" b="b"/>
            <a:pathLst>
              <a:path w="22860" h="1446529">
                <a:moveTo>
                  <a:pt x="22860" y="0"/>
                </a:moveTo>
                <a:lnTo>
                  <a:pt x="0" y="0"/>
                </a:lnTo>
                <a:lnTo>
                  <a:pt x="0" y="1446275"/>
                </a:lnTo>
                <a:lnTo>
                  <a:pt x="22860" y="1446275"/>
                </a:lnTo>
                <a:lnTo>
                  <a:pt x="22860" y="0"/>
                </a:lnTo>
                <a:close/>
              </a:path>
            </a:pathLst>
          </a:custGeom>
          <a:solidFill>
            <a:srgbClr val="D3C5B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7F86CA-6BBA-75E0-814C-FAB2E3177A97}"/>
              </a:ext>
            </a:extLst>
          </p:cNvPr>
          <p:cNvSpPr txBox="1"/>
          <p:nvPr/>
        </p:nvSpPr>
        <p:spPr>
          <a:xfrm>
            <a:off x="2514600" y="3329970"/>
            <a:ext cx="10134600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0000"/>
            </a:solidFill>
          </a:ln>
          <a:scene3d>
            <a:camera prst="isometricOffAxis1Right"/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IN" sz="9600" dirty="0"/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175845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659</Words>
  <Application>Microsoft Office PowerPoint</Application>
  <PresentationFormat>Custom</PresentationFormat>
  <Paragraphs>94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Georgia Pro SemiBold</vt:lpstr>
      <vt:lpstr>Liberation Serif</vt:lpstr>
      <vt:lpstr>Yrsa</vt:lpstr>
      <vt:lpstr>Office Theme</vt:lpstr>
      <vt:lpstr>Cognitive Silicon: The Future of Brain-Like Chips</vt:lpstr>
      <vt:lpstr>What is Cognitive Silicon?</vt:lpstr>
      <vt:lpstr>Why Do We Need Cognitive Silicon?</vt:lpstr>
      <vt:lpstr>How Brain-Like Chips Work</vt:lpstr>
      <vt:lpstr>Cognitive Silicon vs Traditional Processors</vt:lpstr>
      <vt:lpstr>Key Technologies Behind Cognitive Silicon</vt:lpstr>
      <vt:lpstr>Real-World Applications</vt:lpstr>
      <vt:lpstr>Why Cognitive Silicon is Revolutionary</vt:lpstr>
      <vt:lpstr>Challenges and Future Outlook</vt:lpstr>
      <vt:lpstr>Conclusion: The Dawn of a New Computing Era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Mogili Sainath</cp:lastModifiedBy>
  <cp:revision>1</cp:revision>
  <dcterms:created xsi:type="dcterms:W3CDTF">2026-03-11T16:01:51Z</dcterms:created>
  <dcterms:modified xsi:type="dcterms:W3CDTF">2026-03-11T18:54:06Z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2026-03-11T00:00:00Z</vt:filetime>
  </property>
  <property fmtid="{D5CDD505-2E9C-101B-9397-08002B2CF9AE}" pid="3" name="CreationClient">
    <vt:lpwstr>hz-json-import</vt:lpwstr>
  </property>
  <property fmtid="{D5CDD505-2E9C-101B-9397-08002B2CF9AE}" pid="4" name="Creator">
    <vt:lpwstr>Adobe Express</vt:lpwstr>
  </property>
  <property fmtid="{D5CDD505-2E9C-101B-9397-08002B2CF9AE}" pid="5" name="LastSaved">
    <vt:filetime>2026-03-11T00:00:00Z</vt:filetime>
  </property>
  <property fmtid="{D5CDD505-2E9C-101B-9397-08002B2CF9AE}" pid="6" name="Producer">
    <vt:lpwstr>Adobe Express</vt:lpwstr>
  </property>
</Properties>
</file>